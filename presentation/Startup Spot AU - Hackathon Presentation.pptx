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Liter"/>
      <p:regular r:id="rId13"/>
    </p:embeddedFont>
    <p:embeddedFont>
      <p:font typeface="Hedvig Letters Sans"/>
      <p:regular r:id="rId14"/>
    </p:embeddedFont>
    <p:embeddedFont>
      <p:font typeface="Quattrocento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iter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QuattrocentoSans-regular.fntdata"/><Relationship Id="rId14" Type="http://schemas.openxmlformats.org/officeDocument/2006/relationships/font" Target="fonts/HedvigLettersSans-regular.fntdata"/><Relationship Id="rId17" Type="http://schemas.openxmlformats.org/officeDocument/2006/relationships/font" Target="fonts/QuattrocentoSans-italic.fntdata"/><Relationship Id="rId16" Type="http://schemas.openxmlformats.org/officeDocument/2006/relationships/font" Target="fonts/Quattrocento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Quattrocento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00827434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e00827434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008274349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g.freepik.com/6bbbe76c630f4bcb9aed4ad61b0bd23da98ba242.jpg" id="17" name="Google Shape;17;p4"/>
          <p:cNvPicPr preferRelativeResize="0"/>
          <p:nvPr/>
        </p:nvPicPr>
        <p:blipFill rotWithShape="1">
          <a:blip r:embed="rId3">
            <a:alphaModFix amt="40000"/>
          </a:blip>
          <a:srcRect b="0" l="123" r="123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5098"/>
                </a:srgbClr>
              </a:gs>
              <a:gs pos="100000">
                <a:srgbClr val="3DCC91">
                  <a:alpha val="2000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19" name="Google Shape;19;p4"/>
          <p:cNvSpPr/>
          <p:nvPr/>
        </p:nvSpPr>
        <p:spPr>
          <a:xfrm>
            <a:off x="390525" y="390525"/>
            <a:ext cx="2143125" cy="438150"/>
          </a:xfrm>
          <a:custGeom>
            <a:rect b="b" l="l" r="r" t="t"/>
            <a:pathLst>
              <a:path extrusionOk="0" h="438150" w="2143125">
                <a:moveTo>
                  <a:pt x="76199" y="0"/>
                </a:moveTo>
                <a:lnTo>
                  <a:pt x="2066926" y="0"/>
                </a:lnTo>
                <a:cubicBezTo>
                  <a:pt x="2109010" y="0"/>
                  <a:pt x="2143125" y="34115"/>
                  <a:pt x="2143125" y="76199"/>
                </a:cubicBezTo>
                <a:lnTo>
                  <a:pt x="2143125" y="361951"/>
                </a:lnTo>
                <a:cubicBezTo>
                  <a:pt x="2143125" y="404035"/>
                  <a:pt x="2109010" y="438150"/>
                  <a:pt x="2066926" y="438150"/>
                </a:cubicBezTo>
                <a:lnTo>
                  <a:pt x="76199" y="438150"/>
                </a:lnTo>
                <a:cubicBezTo>
                  <a:pt x="34115" y="438150"/>
                  <a:pt x="0" y="404035"/>
                  <a:pt x="0" y="3619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 cap="flat" cmpd="sng" w="25400">
            <a:solidFill>
              <a:srgbClr val="3DCC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590550" y="476250"/>
            <a:ext cx="182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CC91"/>
                </a:solidFill>
                <a:latin typeface="Liter"/>
                <a:ea typeface="Liter"/>
                <a:cs typeface="Liter"/>
                <a:sym typeface="Liter"/>
              </a:rPr>
              <a:t>HACKATHON 2026</a:t>
            </a:r>
            <a:endParaRPr b="0" i="0" sz="1600" u="none" cap="none" strike="noStrike"/>
          </a:p>
        </p:txBody>
      </p:sp>
      <p:sp>
        <p:nvSpPr>
          <p:cNvPr id="21" name="Google Shape;21;p4"/>
          <p:cNvSpPr/>
          <p:nvPr/>
        </p:nvSpPr>
        <p:spPr>
          <a:xfrm>
            <a:off x="10213628" y="3810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Theme II</a:t>
            </a:r>
            <a:endParaRPr b="0" i="0" sz="1600" u="none" cap="none" strike="noStrike"/>
          </a:p>
        </p:txBody>
      </p:sp>
      <p:sp>
        <p:nvSpPr>
          <p:cNvPr id="22" name="Google Shape;22;p4"/>
          <p:cNvSpPr/>
          <p:nvPr/>
        </p:nvSpPr>
        <p:spPr>
          <a:xfrm>
            <a:off x="10204103" y="609600"/>
            <a:ext cx="1609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Location Intelligence</a:t>
            </a:r>
            <a:endParaRPr b="0" i="0" sz="1600" u="none" cap="none" strike="noStrike"/>
          </a:p>
        </p:txBody>
      </p:sp>
      <p:sp>
        <p:nvSpPr>
          <p:cNvPr id="23" name="Google Shape;23;p4"/>
          <p:cNvSpPr/>
          <p:nvPr/>
        </p:nvSpPr>
        <p:spPr>
          <a:xfrm>
            <a:off x="381000" y="1669256"/>
            <a:ext cx="59340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9FAFB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Startup Spot</a:t>
            </a:r>
            <a:endParaRPr b="0" i="0" sz="1600" u="none" cap="none" strike="noStrike"/>
          </a:p>
        </p:txBody>
      </p:sp>
      <p:sp>
        <p:nvSpPr>
          <p:cNvPr id="24" name="Google Shape;24;p4"/>
          <p:cNvSpPr/>
          <p:nvPr/>
        </p:nvSpPr>
        <p:spPr>
          <a:xfrm>
            <a:off x="381000" y="2926556"/>
            <a:ext cx="1219200" cy="76200"/>
          </a:xfrm>
          <a:custGeom>
            <a:rect b="b" l="l" r="r" t="t"/>
            <a:pathLst>
              <a:path extrusionOk="0" h="76200" w="1219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25" name="Google Shape;25;p4"/>
          <p:cNvSpPr/>
          <p:nvPr/>
        </p:nvSpPr>
        <p:spPr>
          <a:xfrm>
            <a:off x="1752600" y="2736050"/>
            <a:ext cx="220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DCC9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GLOBAL</a:t>
            </a:r>
            <a:endParaRPr b="0" i="0" sz="1600" u="none" cap="none" strike="noStrike"/>
          </a:p>
        </p:txBody>
      </p:sp>
      <p:sp>
        <p:nvSpPr>
          <p:cNvPr id="26" name="Google Shape;26;p4"/>
          <p:cNvSpPr/>
          <p:nvPr/>
        </p:nvSpPr>
        <p:spPr>
          <a:xfrm>
            <a:off x="381000" y="3498056"/>
            <a:ext cx="56197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Decoding the Geography of Everything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for the Next Generation of Entrepreneurs</a:t>
            </a:r>
            <a:endParaRPr b="0" i="0" sz="1600" u="none" cap="none" strike="noStrike"/>
          </a:p>
        </p:txBody>
      </p:sp>
      <p:sp>
        <p:nvSpPr>
          <p:cNvPr id="27" name="Google Shape;27;p4"/>
          <p:cNvSpPr/>
          <p:nvPr/>
        </p:nvSpPr>
        <p:spPr>
          <a:xfrm>
            <a:off x="381000" y="4750594"/>
            <a:ext cx="285750" cy="228600"/>
          </a:xfrm>
          <a:custGeom>
            <a:rect b="b" l="l" r="r" t="t"/>
            <a:pathLst>
              <a:path extrusionOk="0" h="228600" w="285750">
                <a:moveTo>
                  <a:pt x="257175" y="21431"/>
                </a:moveTo>
                <a:cubicBezTo>
                  <a:pt x="257175" y="16475"/>
                  <a:pt x="254630" y="11876"/>
                  <a:pt x="250388" y="9287"/>
                </a:cubicBezTo>
                <a:cubicBezTo>
                  <a:pt x="246147" y="6697"/>
                  <a:pt x="240923" y="6429"/>
                  <a:pt x="236503" y="8662"/>
                </a:cubicBezTo>
                <a:lnTo>
                  <a:pt x="184621" y="34603"/>
                </a:lnTo>
                <a:lnTo>
                  <a:pt x="104522" y="7858"/>
                </a:lnTo>
                <a:cubicBezTo>
                  <a:pt x="100905" y="6653"/>
                  <a:pt x="97021" y="6921"/>
                  <a:pt x="93628" y="8617"/>
                </a:cubicBezTo>
                <a:lnTo>
                  <a:pt x="36478" y="37192"/>
                </a:lnTo>
                <a:cubicBezTo>
                  <a:pt x="31611" y="39648"/>
                  <a:pt x="28575" y="44604"/>
                  <a:pt x="28575" y="50006"/>
                </a:cubicBezTo>
                <a:lnTo>
                  <a:pt x="28575" y="207169"/>
                </a:lnTo>
                <a:cubicBezTo>
                  <a:pt x="28575" y="212125"/>
                  <a:pt x="31120" y="216724"/>
                  <a:pt x="35362" y="219313"/>
                </a:cubicBezTo>
                <a:cubicBezTo>
                  <a:pt x="39603" y="221903"/>
                  <a:pt x="44827" y="222171"/>
                  <a:pt x="49247" y="219938"/>
                </a:cubicBezTo>
                <a:lnTo>
                  <a:pt x="101084" y="193997"/>
                </a:lnTo>
                <a:lnTo>
                  <a:pt x="178460" y="219804"/>
                </a:lnTo>
                <a:cubicBezTo>
                  <a:pt x="176540" y="216947"/>
                  <a:pt x="174665" y="213955"/>
                  <a:pt x="172834" y="210919"/>
                </a:cubicBezTo>
                <a:cubicBezTo>
                  <a:pt x="167923" y="202749"/>
                  <a:pt x="163056" y="193372"/>
                  <a:pt x="159440" y="183326"/>
                </a:cubicBezTo>
                <a:lnTo>
                  <a:pt x="114255" y="168280"/>
                </a:lnTo>
                <a:lnTo>
                  <a:pt x="114255" y="41255"/>
                </a:lnTo>
                <a:lnTo>
                  <a:pt x="171405" y="60320"/>
                </a:lnTo>
                <a:lnTo>
                  <a:pt x="171405" y="104656"/>
                </a:lnTo>
                <a:cubicBezTo>
                  <a:pt x="185246" y="88672"/>
                  <a:pt x="205785" y="78581"/>
                  <a:pt x="228555" y="78581"/>
                </a:cubicBezTo>
                <a:cubicBezTo>
                  <a:pt x="238646" y="78581"/>
                  <a:pt x="248290" y="80546"/>
                  <a:pt x="257130" y="84162"/>
                </a:cubicBezTo>
                <a:lnTo>
                  <a:pt x="257175" y="21431"/>
                </a:lnTo>
                <a:close/>
                <a:moveTo>
                  <a:pt x="228600" y="100013"/>
                </a:moveTo>
                <a:cubicBezTo>
                  <a:pt x="198998" y="100013"/>
                  <a:pt x="175022" y="123587"/>
                  <a:pt x="175022" y="152653"/>
                </a:cubicBezTo>
                <a:cubicBezTo>
                  <a:pt x="175022" y="183416"/>
                  <a:pt x="203642" y="219804"/>
                  <a:pt x="219045" y="237173"/>
                </a:cubicBezTo>
                <a:cubicBezTo>
                  <a:pt x="224224" y="242977"/>
                  <a:pt x="233020" y="242977"/>
                  <a:pt x="238199" y="237173"/>
                </a:cubicBezTo>
                <a:cubicBezTo>
                  <a:pt x="253603" y="219804"/>
                  <a:pt x="282223" y="183416"/>
                  <a:pt x="282223" y="152653"/>
                </a:cubicBezTo>
                <a:cubicBezTo>
                  <a:pt x="282223" y="123587"/>
                  <a:pt x="258247" y="100013"/>
                  <a:pt x="228645" y="100013"/>
                </a:cubicBezTo>
                <a:close/>
                <a:moveTo>
                  <a:pt x="210741" y="153591"/>
                </a:moveTo>
                <a:cubicBezTo>
                  <a:pt x="210741" y="143734"/>
                  <a:pt x="218743" y="135731"/>
                  <a:pt x="228600" y="135731"/>
                </a:cubicBezTo>
                <a:cubicBezTo>
                  <a:pt x="238457" y="135731"/>
                  <a:pt x="246459" y="143734"/>
                  <a:pt x="246459" y="153591"/>
                </a:cubicBezTo>
                <a:cubicBezTo>
                  <a:pt x="246459" y="163447"/>
                  <a:pt x="238457" y="171450"/>
                  <a:pt x="228600" y="171450"/>
                </a:cubicBezTo>
                <a:cubicBezTo>
                  <a:pt x="218743" y="171450"/>
                  <a:pt x="210741" y="163447"/>
                  <a:pt x="210741" y="153591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81050" y="4731544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Data-Driven Location Intelligence</a:t>
            </a:r>
            <a:endParaRPr b="0" i="0" sz="1600" u="none" cap="none" strike="noStrike"/>
          </a:p>
        </p:txBody>
      </p:sp>
      <p:sp>
        <p:nvSpPr>
          <p:cNvPr id="29" name="Google Shape;29;p4"/>
          <p:cNvSpPr/>
          <p:nvPr/>
        </p:nvSpPr>
        <p:spPr>
          <a:xfrm>
            <a:off x="3874071" y="4750594"/>
            <a:ext cx="228600" cy="228600"/>
          </a:xfrm>
          <a:custGeom>
            <a:rect b="b" l="l" r="r" t="t"/>
            <a:pathLst>
              <a:path extrusionOk="0" h="228600" w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245546" y="4731544"/>
            <a:ext cx="1704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 Analytics</a:t>
            </a:r>
            <a:endParaRPr b="0" i="0" sz="1600" u="none" cap="none" strike="noStrike"/>
          </a:p>
        </p:txBody>
      </p:sp>
      <p:sp>
        <p:nvSpPr>
          <p:cNvPr id="31" name="Google Shape;31;p4"/>
          <p:cNvSpPr/>
          <p:nvPr/>
        </p:nvSpPr>
        <p:spPr>
          <a:xfrm>
            <a:off x="381000" y="5791200"/>
            <a:ext cx="415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Members</a:t>
            </a:r>
            <a:endParaRPr b="0" i="0" sz="1600" u="none" cap="none" strike="noStrike"/>
          </a:p>
        </p:txBody>
      </p:sp>
      <p:sp>
        <p:nvSpPr>
          <p:cNvPr id="32" name="Google Shape;32;p4"/>
          <p:cNvSpPr/>
          <p:nvPr/>
        </p:nvSpPr>
        <p:spPr>
          <a:xfrm>
            <a:off x="381000" y="60960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04825" y="6210300"/>
            <a:ext cx="133350" cy="152400"/>
          </a:xfrm>
          <a:custGeom>
            <a:rect b="b" l="l" r="r" t="t"/>
            <a:pathLst>
              <a:path extrusionOk="0" h="152400" w="13335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38200" y="6153150"/>
            <a:ext cx="1411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Alex Stevanovic</a:t>
            </a:r>
            <a:endParaRPr b="0" i="0" sz="1600" u="none" cap="none" strike="noStrike"/>
          </a:p>
        </p:txBody>
      </p:sp>
      <p:sp>
        <p:nvSpPr>
          <p:cNvPr id="35" name="Google Shape;35;p4"/>
          <p:cNvSpPr/>
          <p:nvPr/>
        </p:nvSpPr>
        <p:spPr>
          <a:xfrm>
            <a:off x="2159340" y="60960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2282772" y="6210300"/>
            <a:ext cx="133350" cy="152400"/>
          </a:xfrm>
          <a:custGeom>
            <a:rect b="b" l="l" r="r" t="t"/>
            <a:pathLst>
              <a:path extrusionOk="0" h="152400" w="13335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578904" y="6153150"/>
            <a:ext cx="117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Richard Zhang</a:t>
            </a:r>
            <a:endParaRPr b="0" i="0" sz="1600" u="none" cap="none" strike="noStrike"/>
          </a:p>
        </p:txBody>
      </p:sp>
      <p:sp>
        <p:nvSpPr>
          <p:cNvPr id="38" name="Google Shape;38;p4"/>
          <p:cNvSpPr/>
          <p:nvPr/>
        </p:nvSpPr>
        <p:spPr>
          <a:xfrm>
            <a:off x="3775361" y="60960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899186" y="6210300"/>
            <a:ext cx="133350" cy="152400"/>
          </a:xfrm>
          <a:custGeom>
            <a:rect b="b" l="l" r="r" t="t"/>
            <a:pathLst>
              <a:path extrusionOk="0" h="152400" w="13335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195869" y="6153150"/>
            <a:ext cx="847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Kevin Phan</a:t>
            </a:r>
            <a:endParaRPr b="0" i="0" sz="1600" u="none" cap="none" strike="noStrike"/>
          </a:p>
        </p:txBody>
      </p:sp>
      <p:sp>
        <p:nvSpPr>
          <p:cNvPr id="41" name="Google Shape;41;p4"/>
          <p:cNvSpPr/>
          <p:nvPr/>
        </p:nvSpPr>
        <p:spPr>
          <a:xfrm>
            <a:off x="11048777" y="6248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 2026</a:t>
            </a:r>
            <a:endParaRPr b="0" i="0" sz="1600" u="none" cap="none" strike="noStrike"/>
          </a:p>
        </p:txBody>
      </p:sp>
      <p:sp>
        <p:nvSpPr>
          <p:cNvPr id="42" name="Google Shape;42;p4"/>
          <p:cNvSpPr/>
          <p:nvPr/>
        </p:nvSpPr>
        <p:spPr>
          <a:xfrm>
            <a:off x="5092798" y="6095991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226253" y="6210300"/>
            <a:ext cx="133350" cy="152400"/>
          </a:xfrm>
          <a:custGeom>
            <a:rect b="b" l="l" r="r" t="t"/>
            <a:pathLst>
              <a:path extrusionOk="0" h="152400" w="13335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523139" y="6153150"/>
            <a:ext cx="109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Johnathan</a:t>
            </a:r>
            <a:r>
              <a:rPr lang="en-US" sz="135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Li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363398" y="454247"/>
            <a:ext cx="72680" cy="436077"/>
          </a:xfrm>
          <a:custGeom>
            <a:rect b="b" l="l" r="r" t="t"/>
            <a:pathLst>
              <a:path extrusionOk="0" h="436077" w="72680">
                <a:moveTo>
                  <a:pt x="0" y="0"/>
                </a:moveTo>
                <a:lnTo>
                  <a:pt x="72680" y="0"/>
                </a:lnTo>
                <a:lnTo>
                  <a:pt x="72680" y="436077"/>
                </a:lnTo>
                <a:lnTo>
                  <a:pt x="0" y="436077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51" name="Google Shape;51;p5"/>
          <p:cNvSpPr/>
          <p:nvPr/>
        </p:nvSpPr>
        <p:spPr>
          <a:xfrm>
            <a:off x="545097" y="363398"/>
            <a:ext cx="4851362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</a:t>
            </a:r>
            <a:endParaRPr b="0" i="0" sz="1600" u="none" cap="none" strike="noStrike"/>
          </a:p>
        </p:txBody>
      </p:sp>
      <p:sp>
        <p:nvSpPr>
          <p:cNvPr id="52" name="Google Shape;52;p5"/>
          <p:cNvSpPr/>
          <p:nvPr/>
        </p:nvSpPr>
        <p:spPr>
          <a:xfrm>
            <a:off x="545097" y="617776"/>
            <a:ext cx="4942212" cy="363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5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The Commercial Feasibility Crisis</a:t>
            </a:r>
            <a:endParaRPr b="0" i="0" sz="1600" u="none" cap="none" strike="noStrike"/>
          </a:p>
        </p:txBody>
      </p:sp>
      <p:sp>
        <p:nvSpPr>
          <p:cNvPr id="53" name="Google Shape;53;p5"/>
          <p:cNvSpPr/>
          <p:nvPr/>
        </p:nvSpPr>
        <p:spPr>
          <a:xfrm>
            <a:off x="545097" y="1053854"/>
            <a:ext cx="11365270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8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location intelligence matters for entrepreneurs</a:t>
            </a:r>
            <a:endParaRPr b="0" i="0" sz="1600" u="none" cap="none" strike="noStrike"/>
          </a:p>
        </p:txBody>
      </p:sp>
      <p:sp>
        <p:nvSpPr>
          <p:cNvPr id="54" name="Google Shape;54;p5"/>
          <p:cNvSpPr/>
          <p:nvPr/>
        </p:nvSpPr>
        <p:spPr>
          <a:xfrm>
            <a:off x="381568" y="1453592"/>
            <a:ext cx="5641753" cy="1090194"/>
          </a:xfrm>
          <a:custGeom>
            <a:rect b="b" l="l" r="r" t="t"/>
            <a:pathLst>
              <a:path extrusionOk="0" h="1090194" w="5641753">
                <a:moveTo>
                  <a:pt x="36340" y="0"/>
                </a:moveTo>
                <a:lnTo>
                  <a:pt x="5569069" y="0"/>
                </a:lnTo>
                <a:cubicBezTo>
                  <a:pt x="5609211" y="0"/>
                  <a:pt x="5641753" y="32541"/>
                  <a:pt x="5641753" y="72683"/>
                </a:cubicBezTo>
                <a:lnTo>
                  <a:pt x="5641753" y="1017511"/>
                </a:lnTo>
                <a:cubicBezTo>
                  <a:pt x="5641753" y="1057652"/>
                  <a:pt x="5609211" y="1090194"/>
                  <a:pt x="5569069" y="1090194"/>
                </a:cubicBezTo>
                <a:lnTo>
                  <a:pt x="36340" y="1090194"/>
                </a:lnTo>
                <a:cubicBezTo>
                  <a:pt x="16270" y="1090194"/>
                  <a:pt x="0" y="1073924"/>
                  <a:pt x="0" y="1053854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381568" y="1453592"/>
            <a:ext cx="36340" cy="1090194"/>
          </a:xfrm>
          <a:custGeom>
            <a:rect b="b" l="l" r="r" t="t"/>
            <a:pathLst>
              <a:path extrusionOk="0" h="1090194" w="36340">
                <a:moveTo>
                  <a:pt x="36340" y="0"/>
                </a:moveTo>
                <a:lnTo>
                  <a:pt x="36340" y="0"/>
                </a:lnTo>
                <a:lnTo>
                  <a:pt x="36340" y="1090194"/>
                </a:lnTo>
                <a:lnTo>
                  <a:pt x="36340" y="1090194"/>
                </a:lnTo>
                <a:cubicBezTo>
                  <a:pt x="16270" y="1090194"/>
                  <a:pt x="0" y="1073924"/>
                  <a:pt x="0" y="1053854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45097" y="1598951"/>
            <a:ext cx="508757" cy="508757"/>
          </a:xfrm>
          <a:custGeom>
            <a:rect b="b" l="l" r="r" t="t"/>
            <a:pathLst>
              <a:path extrusionOk="0" h="508757" w="508757">
                <a:moveTo>
                  <a:pt x="109022" y="0"/>
                </a:moveTo>
                <a:lnTo>
                  <a:pt x="399736" y="0"/>
                </a:lnTo>
                <a:cubicBezTo>
                  <a:pt x="459946" y="0"/>
                  <a:pt x="508757" y="48811"/>
                  <a:pt x="508757" y="109022"/>
                </a:cubicBezTo>
                <a:lnTo>
                  <a:pt x="508757" y="399736"/>
                </a:lnTo>
                <a:cubicBezTo>
                  <a:pt x="508757" y="459946"/>
                  <a:pt x="459946" y="508757"/>
                  <a:pt x="399736" y="508757"/>
                </a:cubicBezTo>
                <a:lnTo>
                  <a:pt x="109022" y="508757"/>
                </a:lnTo>
                <a:cubicBezTo>
                  <a:pt x="48811" y="508757"/>
                  <a:pt x="0" y="459946"/>
                  <a:pt x="0" y="399736"/>
                </a:cubicBezTo>
                <a:lnTo>
                  <a:pt x="0" y="109022"/>
                </a:lnTo>
                <a:cubicBezTo>
                  <a:pt x="0" y="48811"/>
                  <a:pt x="48811" y="0"/>
                  <a:pt x="109022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90456" y="1744310"/>
            <a:ext cx="218039" cy="218039"/>
          </a:xfrm>
          <a:custGeom>
            <a:rect b="b" l="l" r="r" t="t"/>
            <a:pathLst>
              <a:path extrusionOk="0" h="218039" w="218039">
                <a:moveTo>
                  <a:pt x="109019" y="0"/>
                </a:moveTo>
                <a:cubicBezTo>
                  <a:pt x="115279" y="0"/>
                  <a:pt x="121029" y="3449"/>
                  <a:pt x="124010" y="8943"/>
                </a:cubicBezTo>
                <a:lnTo>
                  <a:pt x="215995" y="179286"/>
                </a:lnTo>
                <a:cubicBezTo>
                  <a:pt x="218848" y="184566"/>
                  <a:pt x="218720" y="190954"/>
                  <a:pt x="215654" y="196107"/>
                </a:cubicBezTo>
                <a:cubicBezTo>
                  <a:pt x="212588" y="201260"/>
                  <a:pt x="207009" y="204411"/>
                  <a:pt x="201004" y="204411"/>
                </a:cubicBezTo>
                <a:lnTo>
                  <a:pt x="17034" y="204411"/>
                </a:lnTo>
                <a:cubicBezTo>
                  <a:pt x="11030" y="204411"/>
                  <a:pt x="5494" y="201260"/>
                  <a:pt x="2385" y="196107"/>
                </a:cubicBezTo>
                <a:cubicBezTo>
                  <a:pt x="-724" y="190954"/>
                  <a:pt x="-809" y="184566"/>
                  <a:pt x="2044" y="179286"/>
                </a:cubicBezTo>
                <a:lnTo>
                  <a:pt x="94029" y="8943"/>
                </a:lnTo>
                <a:cubicBezTo>
                  <a:pt x="97010" y="3449"/>
                  <a:pt x="102759" y="0"/>
                  <a:pt x="109019" y="0"/>
                </a:cubicBezTo>
                <a:close/>
                <a:moveTo>
                  <a:pt x="109019" y="71544"/>
                </a:moveTo>
                <a:cubicBezTo>
                  <a:pt x="103355" y="71544"/>
                  <a:pt x="98799" y="76101"/>
                  <a:pt x="98799" y="81765"/>
                </a:cubicBezTo>
                <a:lnTo>
                  <a:pt x="98799" y="129461"/>
                </a:lnTo>
                <a:cubicBezTo>
                  <a:pt x="98799" y="135124"/>
                  <a:pt x="103355" y="139681"/>
                  <a:pt x="109019" y="139681"/>
                </a:cubicBezTo>
                <a:cubicBezTo>
                  <a:pt x="114683" y="139681"/>
                  <a:pt x="119240" y="135124"/>
                  <a:pt x="119240" y="129461"/>
                </a:cubicBezTo>
                <a:lnTo>
                  <a:pt x="119240" y="81765"/>
                </a:lnTo>
                <a:cubicBezTo>
                  <a:pt x="119240" y="76101"/>
                  <a:pt x="114683" y="71544"/>
                  <a:pt x="109019" y="71544"/>
                </a:cubicBezTo>
                <a:close/>
                <a:moveTo>
                  <a:pt x="120390" y="163529"/>
                </a:moveTo>
                <a:cubicBezTo>
                  <a:pt x="120648" y="159309"/>
                  <a:pt x="118544" y="155293"/>
                  <a:pt x="114926" y="153105"/>
                </a:cubicBezTo>
                <a:cubicBezTo>
                  <a:pt x="111308" y="150916"/>
                  <a:pt x="106774" y="150916"/>
                  <a:pt x="103156" y="153105"/>
                </a:cubicBezTo>
                <a:cubicBezTo>
                  <a:pt x="99538" y="155293"/>
                  <a:pt x="97433" y="159309"/>
                  <a:pt x="97692" y="163529"/>
                </a:cubicBezTo>
                <a:cubicBezTo>
                  <a:pt x="97433" y="167750"/>
                  <a:pt x="99538" y="171765"/>
                  <a:pt x="103156" y="173954"/>
                </a:cubicBezTo>
                <a:cubicBezTo>
                  <a:pt x="106774" y="176142"/>
                  <a:pt x="111308" y="176142"/>
                  <a:pt x="114926" y="173954"/>
                </a:cubicBezTo>
                <a:cubicBezTo>
                  <a:pt x="118544" y="171765"/>
                  <a:pt x="120648" y="167750"/>
                  <a:pt x="120390" y="163529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199213" y="1598951"/>
            <a:ext cx="4769598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1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Every Decision is a Location Decision</a:t>
            </a:r>
            <a:endParaRPr b="0" i="0" sz="1600" u="none" cap="none" strike="noStrike"/>
          </a:p>
        </p:txBody>
      </p:sp>
      <p:sp>
        <p:nvSpPr>
          <p:cNvPr id="59" name="Google Shape;59;p5"/>
          <p:cNvSpPr/>
          <p:nvPr/>
        </p:nvSpPr>
        <p:spPr>
          <a:xfrm>
            <a:off x="1199213" y="1926009"/>
            <a:ext cx="4751428" cy="472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Where a business opens determines </a:t>
            </a:r>
            <a:r>
              <a:rPr b="1" i="0" lang="en-US" sz="114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70% of its success potential</a:t>
            </a: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 Yet entrepreneurs rely on gut feeling rather than data-driven insights.</a:t>
            </a:r>
            <a:endParaRPr b="0" i="0" sz="1600" u="none" cap="none" strike="noStrike"/>
          </a:p>
        </p:txBody>
      </p:sp>
      <p:sp>
        <p:nvSpPr>
          <p:cNvPr id="60" name="Google Shape;60;p5"/>
          <p:cNvSpPr/>
          <p:nvPr/>
        </p:nvSpPr>
        <p:spPr>
          <a:xfrm>
            <a:off x="381568" y="2689145"/>
            <a:ext cx="5641753" cy="1090194"/>
          </a:xfrm>
          <a:custGeom>
            <a:rect b="b" l="l" r="r" t="t"/>
            <a:pathLst>
              <a:path extrusionOk="0" h="1090194" w="5641753">
                <a:moveTo>
                  <a:pt x="36340" y="0"/>
                </a:moveTo>
                <a:lnTo>
                  <a:pt x="5569069" y="0"/>
                </a:lnTo>
                <a:cubicBezTo>
                  <a:pt x="5609211" y="0"/>
                  <a:pt x="5641753" y="32541"/>
                  <a:pt x="5641753" y="72683"/>
                </a:cubicBezTo>
                <a:lnTo>
                  <a:pt x="5641753" y="1017511"/>
                </a:lnTo>
                <a:cubicBezTo>
                  <a:pt x="5641753" y="1057652"/>
                  <a:pt x="5609211" y="1090194"/>
                  <a:pt x="5569069" y="1090194"/>
                </a:cubicBezTo>
                <a:lnTo>
                  <a:pt x="36340" y="1090194"/>
                </a:lnTo>
                <a:cubicBezTo>
                  <a:pt x="16270" y="1090194"/>
                  <a:pt x="0" y="1073924"/>
                  <a:pt x="0" y="1053854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81568" y="2689145"/>
            <a:ext cx="36340" cy="1090194"/>
          </a:xfrm>
          <a:custGeom>
            <a:rect b="b" l="l" r="r" t="t"/>
            <a:pathLst>
              <a:path extrusionOk="0" h="1090194" w="36340">
                <a:moveTo>
                  <a:pt x="36340" y="0"/>
                </a:moveTo>
                <a:lnTo>
                  <a:pt x="36340" y="0"/>
                </a:lnTo>
                <a:lnTo>
                  <a:pt x="36340" y="1090194"/>
                </a:lnTo>
                <a:lnTo>
                  <a:pt x="36340" y="1090194"/>
                </a:lnTo>
                <a:cubicBezTo>
                  <a:pt x="16270" y="1090194"/>
                  <a:pt x="0" y="1073924"/>
                  <a:pt x="0" y="1053854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45097" y="2834504"/>
            <a:ext cx="508757" cy="508757"/>
          </a:xfrm>
          <a:custGeom>
            <a:rect b="b" l="l" r="r" t="t"/>
            <a:pathLst>
              <a:path extrusionOk="0" h="508757" w="508757">
                <a:moveTo>
                  <a:pt x="109022" y="0"/>
                </a:moveTo>
                <a:lnTo>
                  <a:pt x="399736" y="0"/>
                </a:lnTo>
                <a:cubicBezTo>
                  <a:pt x="459946" y="0"/>
                  <a:pt x="508757" y="48811"/>
                  <a:pt x="508757" y="109022"/>
                </a:cubicBezTo>
                <a:lnTo>
                  <a:pt x="508757" y="399736"/>
                </a:lnTo>
                <a:cubicBezTo>
                  <a:pt x="508757" y="459946"/>
                  <a:pt x="459946" y="508757"/>
                  <a:pt x="399736" y="508757"/>
                </a:cubicBezTo>
                <a:lnTo>
                  <a:pt x="109022" y="508757"/>
                </a:lnTo>
                <a:cubicBezTo>
                  <a:pt x="48811" y="508757"/>
                  <a:pt x="0" y="459946"/>
                  <a:pt x="0" y="399736"/>
                </a:cubicBezTo>
                <a:lnTo>
                  <a:pt x="0" y="109022"/>
                </a:lnTo>
                <a:cubicBezTo>
                  <a:pt x="0" y="48811"/>
                  <a:pt x="48811" y="0"/>
                  <a:pt x="109022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90456" y="2979863"/>
            <a:ext cx="218039" cy="218039"/>
          </a:xfrm>
          <a:custGeom>
            <a:rect b="b" l="l" r="r" t="t"/>
            <a:pathLst>
              <a:path extrusionOk="0" h="218039" w="218039">
                <a:moveTo>
                  <a:pt x="27255" y="27255"/>
                </a:moveTo>
                <a:cubicBezTo>
                  <a:pt x="27255" y="19717"/>
                  <a:pt x="21165" y="13627"/>
                  <a:pt x="13627" y="13627"/>
                </a:cubicBezTo>
                <a:cubicBezTo>
                  <a:pt x="6090" y="13627"/>
                  <a:pt x="0" y="19717"/>
                  <a:pt x="0" y="27255"/>
                </a:cubicBezTo>
                <a:lnTo>
                  <a:pt x="0" y="170343"/>
                </a:lnTo>
                <a:cubicBezTo>
                  <a:pt x="0" y="189166"/>
                  <a:pt x="15246" y="204411"/>
                  <a:pt x="34069" y="204411"/>
                </a:cubicBezTo>
                <a:lnTo>
                  <a:pt x="204411" y="204411"/>
                </a:lnTo>
                <a:cubicBezTo>
                  <a:pt x="211949" y="204411"/>
                  <a:pt x="218039" y="198322"/>
                  <a:pt x="218039" y="190784"/>
                </a:cubicBezTo>
                <a:cubicBezTo>
                  <a:pt x="218039" y="183246"/>
                  <a:pt x="211949" y="177156"/>
                  <a:pt x="204411" y="177156"/>
                </a:cubicBezTo>
                <a:lnTo>
                  <a:pt x="34069" y="177156"/>
                </a:lnTo>
                <a:cubicBezTo>
                  <a:pt x="30321" y="177156"/>
                  <a:pt x="27255" y="174090"/>
                  <a:pt x="27255" y="170343"/>
                </a:cubicBezTo>
                <a:lnTo>
                  <a:pt x="27255" y="27255"/>
                </a:lnTo>
                <a:close/>
                <a:moveTo>
                  <a:pt x="200408" y="64134"/>
                </a:moveTo>
                <a:cubicBezTo>
                  <a:pt x="205731" y="58811"/>
                  <a:pt x="205731" y="50166"/>
                  <a:pt x="200408" y="44843"/>
                </a:cubicBezTo>
                <a:cubicBezTo>
                  <a:pt x="195085" y="39520"/>
                  <a:pt x="186440" y="39520"/>
                  <a:pt x="181117" y="44843"/>
                </a:cubicBezTo>
                <a:lnTo>
                  <a:pt x="136274" y="89728"/>
                </a:lnTo>
                <a:lnTo>
                  <a:pt x="111830" y="65326"/>
                </a:lnTo>
                <a:cubicBezTo>
                  <a:pt x="106507" y="60003"/>
                  <a:pt x="97862" y="60003"/>
                  <a:pt x="92539" y="65326"/>
                </a:cubicBezTo>
                <a:lnTo>
                  <a:pt x="51656" y="106209"/>
                </a:lnTo>
                <a:cubicBezTo>
                  <a:pt x="46333" y="111532"/>
                  <a:pt x="46333" y="120177"/>
                  <a:pt x="51656" y="125500"/>
                </a:cubicBezTo>
                <a:cubicBezTo>
                  <a:pt x="56980" y="130823"/>
                  <a:pt x="65625" y="130823"/>
                  <a:pt x="70948" y="125500"/>
                </a:cubicBezTo>
                <a:lnTo>
                  <a:pt x="102206" y="94242"/>
                </a:lnTo>
                <a:lnTo>
                  <a:pt x="126650" y="118686"/>
                </a:lnTo>
                <a:cubicBezTo>
                  <a:pt x="131973" y="124010"/>
                  <a:pt x="140618" y="124010"/>
                  <a:pt x="145941" y="118686"/>
                </a:cubicBezTo>
                <a:lnTo>
                  <a:pt x="200451" y="64177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199213" y="2834504"/>
            <a:ext cx="4769598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1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The Data Gap</a:t>
            </a:r>
            <a:endParaRPr b="0" i="0" sz="1600" u="none" cap="none" strike="noStrike"/>
          </a:p>
        </p:txBody>
      </p:sp>
      <p:sp>
        <p:nvSpPr>
          <p:cNvPr id="65" name="Google Shape;65;p5"/>
          <p:cNvSpPr/>
          <p:nvPr/>
        </p:nvSpPr>
        <p:spPr>
          <a:xfrm>
            <a:off x="1199213" y="3161562"/>
            <a:ext cx="4751428" cy="472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Enterprise companies pay </a:t>
            </a:r>
            <a:r>
              <a:rPr b="1" i="0" lang="en-US" sz="114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millions for location intelligence</a:t>
            </a: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 Small businesses are left in the dark, making critical decisions blind.</a:t>
            </a:r>
            <a:endParaRPr b="0" i="0" sz="1600" u="none" cap="none" strike="noStrike"/>
          </a:p>
        </p:txBody>
      </p:sp>
      <p:sp>
        <p:nvSpPr>
          <p:cNvPr id="66" name="Google Shape;66;p5"/>
          <p:cNvSpPr/>
          <p:nvPr/>
        </p:nvSpPr>
        <p:spPr>
          <a:xfrm>
            <a:off x="367940" y="3929240"/>
            <a:ext cx="5650838" cy="1099279"/>
          </a:xfrm>
          <a:custGeom>
            <a:rect b="b" l="l" r="r" t="t"/>
            <a:pathLst>
              <a:path extrusionOk="0" h="1099279" w="5650838">
                <a:moveTo>
                  <a:pt x="72684" y="0"/>
                </a:moveTo>
                <a:lnTo>
                  <a:pt x="5578153" y="0"/>
                </a:lnTo>
                <a:cubicBezTo>
                  <a:pt x="5618296" y="0"/>
                  <a:pt x="5650838" y="32542"/>
                  <a:pt x="5650838" y="72684"/>
                </a:cubicBezTo>
                <a:lnTo>
                  <a:pt x="5650838" y="1026594"/>
                </a:lnTo>
                <a:cubicBezTo>
                  <a:pt x="5650838" y="1066737"/>
                  <a:pt x="5618296" y="1099279"/>
                  <a:pt x="5578153" y="1099279"/>
                </a:cubicBezTo>
                <a:lnTo>
                  <a:pt x="72684" y="1099279"/>
                </a:lnTo>
                <a:cubicBezTo>
                  <a:pt x="32542" y="1099279"/>
                  <a:pt x="0" y="1066737"/>
                  <a:pt x="0" y="1026594"/>
                </a:cubicBezTo>
                <a:lnTo>
                  <a:pt x="0" y="72684"/>
                </a:lnTo>
                <a:cubicBezTo>
                  <a:pt x="0" y="32569"/>
                  <a:pt x="32569" y="0"/>
                  <a:pt x="72684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3DCC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63267" y="4115481"/>
            <a:ext cx="136274" cy="181699"/>
          </a:xfrm>
          <a:custGeom>
            <a:rect b="b" l="l" r="r" t="t"/>
            <a:pathLst>
              <a:path extrusionOk="0" h="181699" w="136274">
                <a:moveTo>
                  <a:pt x="103945" y="136274"/>
                </a:moveTo>
                <a:cubicBezTo>
                  <a:pt x="106535" y="128360"/>
                  <a:pt x="111716" y="121192"/>
                  <a:pt x="117572" y="115017"/>
                </a:cubicBezTo>
                <a:cubicBezTo>
                  <a:pt x="129177" y="102809"/>
                  <a:pt x="136274" y="86307"/>
                  <a:pt x="136274" y="68137"/>
                </a:cubicBezTo>
                <a:cubicBezTo>
                  <a:pt x="136274" y="30520"/>
                  <a:pt x="105754" y="0"/>
                  <a:pt x="68137" y="0"/>
                </a:cubicBezTo>
                <a:cubicBezTo>
                  <a:pt x="30520" y="0"/>
                  <a:pt x="0" y="30520"/>
                  <a:pt x="0" y="68137"/>
                </a:cubicBezTo>
                <a:cubicBezTo>
                  <a:pt x="0" y="86307"/>
                  <a:pt x="7098" y="102809"/>
                  <a:pt x="18702" y="115017"/>
                </a:cubicBezTo>
                <a:cubicBezTo>
                  <a:pt x="24558" y="121192"/>
                  <a:pt x="29774" y="128360"/>
                  <a:pt x="32330" y="136274"/>
                </a:cubicBezTo>
                <a:lnTo>
                  <a:pt x="103909" y="136274"/>
                </a:lnTo>
                <a:close/>
                <a:moveTo>
                  <a:pt x="102206" y="153308"/>
                </a:moveTo>
                <a:lnTo>
                  <a:pt x="34069" y="153308"/>
                </a:lnTo>
                <a:lnTo>
                  <a:pt x="34069" y="158987"/>
                </a:lnTo>
                <a:cubicBezTo>
                  <a:pt x="34069" y="174672"/>
                  <a:pt x="46773" y="187377"/>
                  <a:pt x="62459" y="187377"/>
                </a:cubicBezTo>
                <a:lnTo>
                  <a:pt x="73815" y="187377"/>
                </a:lnTo>
                <a:cubicBezTo>
                  <a:pt x="89501" y="187377"/>
                  <a:pt x="102206" y="174672"/>
                  <a:pt x="102206" y="158987"/>
                </a:cubicBezTo>
                <a:lnTo>
                  <a:pt x="102206" y="153308"/>
                </a:lnTo>
                <a:close/>
                <a:moveTo>
                  <a:pt x="65298" y="39747"/>
                </a:moveTo>
                <a:cubicBezTo>
                  <a:pt x="51174" y="39747"/>
                  <a:pt x="39747" y="51174"/>
                  <a:pt x="39747" y="65298"/>
                </a:cubicBezTo>
                <a:cubicBezTo>
                  <a:pt x="39747" y="70018"/>
                  <a:pt x="35949" y="73815"/>
                  <a:pt x="31230" y="73815"/>
                </a:cubicBezTo>
                <a:cubicBezTo>
                  <a:pt x="26510" y="73815"/>
                  <a:pt x="22712" y="70018"/>
                  <a:pt x="22712" y="65298"/>
                </a:cubicBezTo>
                <a:cubicBezTo>
                  <a:pt x="22712" y="41769"/>
                  <a:pt x="41769" y="22712"/>
                  <a:pt x="65298" y="22712"/>
                </a:cubicBezTo>
                <a:cubicBezTo>
                  <a:pt x="70018" y="22712"/>
                  <a:pt x="73815" y="26510"/>
                  <a:pt x="73815" y="31230"/>
                </a:cubicBezTo>
                <a:cubicBezTo>
                  <a:pt x="73815" y="35949"/>
                  <a:pt x="70018" y="39747"/>
                  <a:pt x="65298" y="39747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853985" y="4079142"/>
            <a:ext cx="1326402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8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The Critical Need</a:t>
            </a:r>
            <a:endParaRPr b="0" i="0" sz="1600" u="none" cap="none" strike="noStrike"/>
          </a:p>
        </p:txBody>
      </p:sp>
      <p:sp>
        <p:nvSpPr>
          <p:cNvPr id="69" name="Google Shape;69;p5"/>
          <p:cNvSpPr/>
          <p:nvPr/>
        </p:nvSpPr>
        <p:spPr>
          <a:xfrm>
            <a:off x="517842" y="4442539"/>
            <a:ext cx="5206953" cy="395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can we ensure a new business opens in a location primed for success, rather than immediate failure?</a:t>
            </a:r>
            <a:endParaRPr b="0" i="0" sz="1600" u="none" cap="none" strike="noStrike"/>
          </a:p>
        </p:txBody>
      </p:sp>
      <p:sp>
        <p:nvSpPr>
          <p:cNvPr id="70" name="Google Shape;70;p5"/>
          <p:cNvSpPr/>
          <p:nvPr/>
        </p:nvSpPr>
        <p:spPr>
          <a:xfrm>
            <a:off x="6169673" y="1453592"/>
            <a:ext cx="5659923" cy="3524960"/>
          </a:xfrm>
          <a:custGeom>
            <a:rect b="b" l="l" r="r" t="t"/>
            <a:pathLst>
              <a:path extrusionOk="0" h="3524960" w="5659923">
                <a:moveTo>
                  <a:pt x="72685" y="0"/>
                </a:moveTo>
                <a:lnTo>
                  <a:pt x="5587238" y="0"/>
                </a:lnTo>
                <a:cubicBezTo>
                  <a:pt x="5627380" y="0"/>
                  <a:pt x="5659923" y="32542"/>
                  <a:pt x="5659923" y="72685"/>
                </a:cubicBezTo>
                <a:lnTo>
                  <a:pt x="5659923" y="3452275"/>
                </a:lnTo>
                <a:cubicBezTo>
                  <a:pt x="5659923" y="3492418"/>
                  <a:pt x="5627380" y="3524960"/>
                  <a:pt x="5587238" y="3524960"/>
                </a:cubicBezTo>
                <a:lnTo>
                  <a:pt x="72685" y="3524960"/>
                </a:lnTo>
                <a:cubicBezTo>
                  <a:pt x="32542" y="3524960"/>
                  <a:pt x="0" y="3492418"/>
                  <a:pt x="0" y="3452275"/>
                </a:cubicBezTo>
                <a:lnTo>
                  <a:pt x="0" y="72685"/>
                </a:lnTo>
                <a:cubicBezTo>
                  <a:pt x="0" y="32542"/>
                  <a:pt x="32542" y="0"/>
                  <a:pt x="7268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337745" y="1635291"/>
            <a:ext cx="181699" cy="181699"/>
          </a:xfrm>
          <a:custGeom>
            <a:rect b="b" l="l" r="r" t="t"/>
            <a:pathLst>
              <a:path extrusionOk="0" h="181699" w="181699">
                <a:moveTo>
                  <a:pt x="90849" y="181699"/>
                </a:moveTo>
                <a:cubicBezTo>
                  <a:pt x="140991" y="181699"/>
                  <a:pt x="181699" y="140991"/>
                  <a:pt x="181699" y="90849"/>
                </a:cubicBezTo>
                <a:cubicBezTo>
                  <a:pt x="181699" y="40708"/>
                  <a:pt x="140991" y="0"/>
                  <a:pt x="90849" y="0"/>
                </a:cubicBezTo>
                <a:cubicBezTo>
                  <a:pt x="40708" y="0"/>
                  <a:pt x="0" y="40708"/>
                  <a:pt x="0" y="90849"/>
                </a:cubicBezTo>
                <a:cubicBezTo>
                  <a:pt x="0" y="140991"/>
                  <a:pt x="40708" y="181699"/>
                  <a:pt x="90849" y="181699"/>
                </a:cubicBezTo>
                <a:close/>
                <a:moveTo>
                  <a:pt x="59265" y="59265"/>
                </a:moveTo>
                <a:cubicBezTo>
                  <a:pt x="62601" y="55929"/>
                  <a:pt x="67995" y="55929"/>
                  <a:pt x="71296" y="59265"/>
                </a:cubicBezTo>
                <a:lnTo>
                  <a:pt x="90814" y="78784"/>
                </a:lnTo>
                <a:lnTo>
                  <a:pt x="110332" y="59265"/>
                </a:lnTo>
                <a:cubicBezTo>
                  <a:pt x="113668" y="55929"/>
                  <a:pt x="119063" y="55929"/>
                  <a:pt x="122363" y="59265"/>
                </a:cubicBezTo>
                <a:cubicBezTo>
                  <a:pt x="125663" y="62601"/>
                  <a:pt x="125699" y="67995"/>
                  <a:pt x="122363" y="71296"/>
                </a:cubicBezTo>
                <a:lnTo>
                  <a:pt x="102844" y="90814"/>
                </a:lnTo>
                <a:lnTo>
                  <a:pt x="122363" y="110332"/>
                </a:lnTo>
                <a:cubicBezTo>
                  <a:pt x="125699" y="113668"/>
                  <a:pt x="125699" y="119063"/>
                  <a:pt x="122363" y="122363"/>
                </a:cubicBezTo>
                <a:cubicBezTo>
                  <a:pt x="119027" y="125663"/>
                  <a:pt x="113633" y="125699"/>
                  <a:pt x="110332" y="122363"/>
                </a:cubicBezTo>
                <a:lnTo>
                  <a:pt x="90814" y="102844"/>
                </a:lnTo>
                <a:lnTo>
                  <a:pt x="71296" y="122363"/>
                </a:lnTo>
                <a:cubicBezTo>
                  <a:pt x="67960" y="125699"/>
                  <a:pt x="62565" y="125699"/>
                  <a:pt x="59265" y="122363"/>
                </a:cubicBezTo>
                <a:cubicBezTo>
                  <a:pt x="55965" y="119027"/>
                  <a:pt x="55929" y="113633"/>
                  <a:pt x="59265" y="110332"/>
                </a:cubicBezTo>
                <a:lnTo>
                  <a:pt x="78784" y="90814"/>
                </a:lnTo>
                <a:lnTo>
                  <a:pt x="59265" y="71296"/>
                </a:lnTo>
                <a:cubicBezTo>
                  <a:pt x="55929" y="67960"/>
                  <a:pt x="55929" y="62565"/>
                  <a:pt x="59265" y="59265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542156" y="1598951"/>
            <a:ext cx="5232930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1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Current Challenges</a:t>
            </a:r>
            <a:endParaRPr b="0" i="0" sz="1600" u="none" cap="none" strike="noStrike"/>
          </a:p>
        </p:txBody>
      </p:sp>
      <p:sp>
        <p:nvSpPr>
          <p:cNvPr id="73" name="Google Shape;73;p5"/>
          <p:cNvSpPr/>
          <p:nvPr/>
        </p:nvSpPr>
        <p:spPr>
          <a:xfrm>
            <a:off x="6315032" y="1962349"/>
            <a:ext cx="5369204" cy="908495"/>
          </a:xfrm>
          <a:custGeom>
            <a:rect b="b" l="l" r="r" t="t"/>
            <a:pathLst>
              <a:path extrusionOk="0" h="908495" w="5369204">
                <a:moveTo>
                  <a:pt x="72680" y="0"/>
                </a:moveTo>
                <a:lnTo>
                  <a:pt x="5296525" y="0"/>
                </a:lnTo>
                <a:cubicBezTo>
                  <a:pt x="5336664" y="0"/>
                  <a:pt x="5369204" y="32540"/>
                  <a:pt x="5369204" y="72680"/>
                </a:cubicBezTo>
                <a:lnTo>
                  <a:pt x="5369204" y="835815"/>
                </a:lnTo>
                <a:cubicBezTo>
                  <a:pt x="5369204" y="875955"/>
                  <a:pt x="5336664" y="908495"/>
                  <a:pt x="5296525" y="908495"/>
                </a:cubicBezTo>
                <a:lnTo>
                  <a:pt x="72680" y="908495"/>
                </a:lnTo>
                <a:cubicBezTo>
                  <a:pt x="32540" y="908495"/>
                  <a:pt x="0" y="875955"/>
                  <a:pt x="0" y="835815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424052" y="2089538"/>
            <a:ext cx="290718" cy="290718"/>
          </a:xfrm>
          <a:custGeom>
            <a:rect b="b" l="l" r="r" t="t"/>
            <a:pathLst>
              <a:path extrusionOk="0" h="290718" w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507946" y="2144048"/>
            <a:ext cx="190784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1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600" u="none" cap="none" strike="noStrike"/>
          </a:p>
        </p:txBody>
      </p:sp>
      <p:sp>
        <p:nvSpPr>
          <p:cNvPr id="76" name="Google Shape;76;p5"/>
          <p:cNvSpPr/>
          <p:nvPr/>
        </p:nvSpPr>
        <p:spPr>
          <a:xfrm>
            <a:off x="6823789" y="2071368"/>
            <a:ext cx="4824107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Gut Feeling vs. Data</a:t>
            </a:r>
            <a:endParaRPr b="0" i="0" sz="1600" u="none" cap="none" strike="noStrike"/>
          </a:p>
        </p:txBody>
      </p:sp>
      <p:sp>
        <p:nvSpPr>
          <p:cNvPr id="77" name="Google Shape;77;p5"/>
          <p:cNvSpPr/>
          <p:nvPr/>
        </p:nvSpPr>
        <p:spPr>
          <a:xfrm>
            <a:off x="6823789" y="2325747"/>
            <a:ext cx="4824107" cy="436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Small business owners rely on intuition rather than objective location analytics</a:t>
            </a:r>
            <a:endParaRPr b="0" i="0" sz="1600" u="none" cap="none" strike="noStrike"/>
          </a:p>
        </p:txBody>
      </p:sp>
      <p:sp>
        <p:nvSpPr>
          <p:cNvPr id="78" name="Google Shape;78;p5"/>
          <p:cNvSpPr/>
          <p:nvPr/>
        </p:nvSpPr>
        <p:spPr>
          <a:xfrm>
            <a:off x="6315032" y="2943523"/>
            <a:ext cx="5369204" cy="908495"/>
          </a:xfrm>
          <a:custGeom>
            <a:rect b="b" l="l" r="r" t="t"/>
            <a:pathLst>
              <a:path extrusionOk="0" h="908495" w="5369204">
                <a:moveTo>
                  <a:pt x="72680" y="0"/>
                </a:moveTo>
                <a:lnTo>
                  <a:pt x="5296525" y="0"/>
                </a:lnTo>
                <a:cubicBezTo>
                  <a:pt x="5336664" y="0"/>
                  <a:pt x="5369204" y="32540"/>
                  <a:pt x="5369204" y="72680"/>
                </a:cubicBezTo>
                <a:lnTo>
                  <a:pt x="5369204" y="835815"/>
                </a:lnTo>
                <a:cubicBezTo>
                  <a:pt x="5369204" y="875955"/>
                  <a:pt x="5336664" y="908495"/>
                  <a:pt x="5296525" y="908495"/>
                </a:cubicBezTo>
                <a:lnTo>
                  <a:pt x="72680" y="908495"/>
                </a:lnTo>
                <a:cubicBezTo>
                  <a:pt x="32540" y="908495"/>
                  <a:pt x="0" y="875955"/>
                  <a:pt x="0" y="835815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424052" y="3070712"/>
            <a:ext cx="290718" cy="290718"/>
          </a:xfrm>
          <a:custGeom>
            <a:rect b="b" l="l" r="r" t="t"/>
            <a:pathLst>
              <a:path extrusionOk="0" h="290718" w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495738" y="3125222"/>
            <a:ext cx="208954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1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600" u="none" cap="none" strike="noStrike"/>
          </a:p>
        </p:txBody>
      </p:sp>
      <p:sp>
        <p:nvSpPr>
          <p:cNvPr id="81" name="Google Shape;81;p5"/>
          <p:cNvSpPr/>
          <p:nvPr/>
        </p:nvSpPr>
        <p:spPr>
          <a:xfrm>
            <a:off x="6823789" y="3052542"/>
            <a:ext cx="4824107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Information Overload</a:t>
            </a:r>
            <a:endParaRPr b="0" i="0" sz="1600" u="none" cap="none" strike="noStrike"/>
          </a:p>
        </p:txBody>
      </p:sp>
      <p:sp>
        <p:nvSpPr>
          <p:cNvPr id="82" name="Google Shape;82;p5"/>
          <p:cNvSpPr/>
          <p:nvPr/>
        </p:nvSpPr>
        <p:spPr>
          <a:xfrm>
            <a:off x="6823789" y="3306921"/>
            <a:ext cx="4824107" cy="436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mapping data exists but lacks translation into actionable commercial advice</a:t>
            </a:r>
            <a:endParaRPr b="0" i="0" sz="1600" u="none" cap="none" strike="noStrike"/>
          </a:p>
        </p:txBody>
      </p:sp>
      <p:sp>
        <p:nvSpPr>
          <p:cNvPr id="83" name="Google Shape;83;p5"/>
          <p:cNvSpPr/>
          <p:nvPr/>
        </p:nvSpPr>
        <p:spPr>
          <a:xfrm>
            <a:off x="6315032" y="3924697"/>
            <a:ext cx="5369204" cy="908495"/>
          </a:xfrm>
          <a:custGeom>
            <a:rect b="b" l="l" r="r" t="t"/>
            <a:pathLst>
              <a:path extrusionOk="0" h="908495" w="5369204">
                <a:moveTo>
                  <a:pt x="72680" y="0"/>
                </a:moveTo>
                <a:lnTo>
                  <a:pt x="5296525" y="0"/>
                </a:lnTo>
                <a:cubicBezTo>
                  <a:pt x="5336664" y="0"/>
                  <a:pt x="5369204" y="32540"/>
                  <a:pt x="5369204" y="72680"/>
                </a:cubicBezTo>
                <a:lnTo>
                  <a:pt x="5369204" y="835815"/>
                </a:lnTo>
                <a:cubicBezTo>
                  <a:pt x="5369204" y="875955"/>
                  <a:pt x="5336664" y="908495"/>
                  <a:pt x="5296525" y="908495"/>
                </a:cubicBezTo>
                <a:lnTo>
                  <a:pt x="72680" y="908495"/>
                </a:lnTo>
                <a:cubicBezTo>
                  <a:pt x="32540" y="908495"/>
                  <a:pt x="0" y="875955"/>
                  <a:pt x="0" y="835815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424052" y="4051887"/>
            <a:ext cx="290718" cy="290718"/>
          </a:xfrm>
          <a:custGeom>
            <a:rect b="b" l="l" r="r" t="t"/>
            <a:pathLst>
              <a:path extrusionOk="0" h="290718" w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494105" y="4106396"/>
            <a:ext cx="218039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1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600" u="none" cap="none" strike="noStrike"/>
          </a:p>
        </p:txBody>
      </p:sp>
      <p:sp>
        <p:nvSpPr>
          <p:cNvPr id="86" name="Google Shape;86;p5"/>
          <p:cNvSpPr/>
          <p:nvPr/>
        </p:nvSpPr>
        <p:spPr>
          <a:xfrm>
            <a:off x="6823789" y="4033717"/>
            <a:ext cx="4824107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Failure Rates</a:t>
            </a:r>
            <a:endParaRPr b="0" i="0" sz="1600" u="none" cap="none" strike="noStrike"/>
          </a:p>
        </p:txBody>
      </p:sp>
      <p:sp>
        <p:nvSpPr>
          <p:cNvPr id="87" name="Google Shape;87;p5"/>
          <p:cNvSpPr/>
          <p:nvPr/>
        </p:nvSpPr>
        <p:spPr>
          <a:xfrm>
            <a:off x="6823789" y="4288095"/>
            <a:ext cx="4824107" cy="436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42% of startups fail due to no market need, often tied to poor location choice</a:t>
            </a:r>
            <a:endParaRPr b="0" i="0" sz="1600" u="none" cap="none" strike="noStrike"/>
          </a:p>
        </p:txBody>
      </p:sp>
      <p:sp>
        <p:nvSpPr>
          <p:cNvPr id="88" name="Google Shape;88;p5"/>
          <p:cNvSpPr/>
          <p:nvPr/>
        </p:nvSpPr>
        <p:spPr>
          <a:xfrm>
            <a:off x="6174216" y="5128453"/>
            <a:ext cx="5650838" cy="1726140"/>
          </a:xfrm>
          <a:custGeom>
            <a:rect b="b" l="l" r="r" t="t"/>
            <a:pathLst>
              <a:path extrusionOk="0" h="1726140" w="5650838">
                <a:moveTo>
                  <a:pt x="72688" y="0"/>
                </a:moveTo>
                <a:lnTo>
                  <a:pt x="5578150" y="0"/>
                </a:lnTo>
                <a:cubicBezTo>
                  <a:pt x="5618294" y="0"/>
                  <a:pt x="5650838" y="32543"/>
                  <a:pt x="5650838" y="72688"/>
                </a:cubicBezTo>
                <a:lnTo>
                  <a:pt x="5650838" y="1653452"/>
                </a:lnTo>
                <a:cubicBezTo>
                  <a:pt x="5650838" y="1693597"/>
                  <a:pt x="5618294" y="1726140"/>
                  <a:pt x="5578150" y="1726140"/>
                </a:cubicBezTo>
                <a:lnTo>
                  <a:pt x="72688" y="1726140"/>
                </a:lnTo>
                <a:cubicBezTo>
                  <a:pt x="32570" y="1726140"/>
                  <a:pt x="0" y="1693570"/>
                  <a:pt x="0" y="1653452"/>
                </a:cubicBezTo>
                <a:lnTo>
                  <a:pt x="0" y="72688"/>
                </a:lnTo>
                <a:cubicBezTo>
                  <a:pt x="0" y="32570"/>
                  <a:pt x="32570" y="0"/>
                  <a:pt x="72688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3DCC91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3DCC9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324117" y="5278355"/>
            <a:ext cx="2407511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8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Business Failure Due to Location</a:t>
            </a:r>
            <a:endParaRPr b="0" i="0" sz="1600" u="none" cap="none" strike="noStrike"/>
          </a:p>
        </p:txBody>
      </p:sp>
      <p:sp>
        <p:nvSpPr>
          <p:cNvPr id="90" name="Google Shape;90;p5"/>
          <p:cNvSpPr/>
          <p:nvPr/>
        </p:nvSpPr>
        <p:spPr>
          <a:xfrm>
            <a:off x="11458107" y="5296525"/>
            <a:ext cx="163529" cy="218039"/>
          </a:xfrm>
          <a:custGeom>
            <a:rect b="b" l="l" r="r" t="t"/>
            <a:pathLst>
              <a:path extrusionOk="0" h="218039" w="163529">
                <a:moveTo>
                  <a:pt x="0" y="80317"/>
                </a:moveTo>
                <a:cubicBezTo>
                  <a:pt x="0" y="35942"/>
                  <a:pt x="36624" y="0"/>
                  <a:pt x="81765" y="0"/>
                </a:cubicBezTo>
                <a:cubicBezTo>
                  <a:pt x="126905" y="0"/>
                  <a:pt x="163529" y="35942"/>
                  <a:pt x="163529" y="80317"/>
                </a:cubicBezTo>
                <a:cubicBezTo>
                  <a:pt x="163529" y="131121"/>
                  <a:pt x="112341" y="192019"/>
                  <a:pt x="90963" y="215228"/>
                </a:cubicBezTo>
                <a:cubicBezTo>
                  <a:pt x="85938" y="220679"/>
                  <a:pt x="77549" y="220679"/>
                  <a:pt x="72523" y="215228"/>
                </a:cubicBezTo>
                <a:cubicBezTo>
                  <a:pt x="51145" y="192019"/>
                  <a:pt x="-43" y="131121"/>
                  <a:pt x="-43" y="80317"/>
                </a:cubicBezTo>
                <a:close/>
                <a:moveTo>
                  <a:pt x="81765" y="109019"/>
                </a:moveTo>
                <a:cubicBezTo>
                  <a:pt x="96807" y="109019"/>
                  <a:pt x="109019" y="96807"/>
                  <a:pt x="109019" y="81765"/>
                </a:cubicBezTo>
                <a:cubicBezTo>
                  <a:pt x="109019" y="66722"/>
                  <a:pt x="96807" y="54510"/>
                  <a:pt x="81765" y="54510"/>
                </a:cubicBezTo>
                <a:cubicBezTo>
                  <a:pt x="66722" y="54510"/>
                  <a:pt x="54510" y="66722"/>
                  <a:pt x="54510" y="81765"/>
                </a:cubicBezTo>
                <a:cubicBezTo>
                  <a:pt x="54510" y="96807"/>
                  <a:pt x="66722" y="109019"/>
                  <a:pt x="81765" y="109019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324117" y="5605413"/>
            <a:ext cx="1017514" cy="436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34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42%</a:t>
            </a:r>
            <a:endParaRPr b="0" i="0" sz="1600" u="none" cap="none" strike="noStrike"/>
          </a:p>
        </p:txBody>
      </p:sp>
      <p:sp>
        <p:nvSpPr>
          <p:cNvPr id="92" name="Google Shape;92;p5"/>
          <p:cNvSpPr/>
          <p:nvPr/>
        </p:nvSpPr>
        <p:spPr>
          <a:xfrm>
            <a:off x="7197053" y="5750772"/>
            <a:ext cx="926665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1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startups</a:t>
            </a:r>
            <a:endParaRPr b="0" i="0" sz="1600" u="none" cap="none" strike="noStrike"/>
          </a:p>
        </p:txBody>
      </p:sp>
      <p:sp>
        <p:nvSpPr>
          <p:cNvPr id="93" name="Google Shape;93;p5"/>
          <p:cNvSpPr/>
          <p:nvPr/>
        </p:nvSpPr>
        <p:spPr>
          <a:xfrm>
            <a:off x="6324117" y="6114170"/>
            <a:ext cx="5423714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fail because of poor market positioning and location decisions</a:t>
            </a:r>
            <a:endParaRPr b="0" i="0" sz="1600" u="none" cap="none" strike="noStrike"/>
          </a:p>
        </p:txBody>
      </p:sp>
      <p:sp>
        <p:nvSpPr>
          <p:cNvPr id="94" name="Google Shape;94;p5"/>
          <p:cNvSpPr/>
          <p:nvPr/>
        </p:nvSpPr>
        <p:spPr>
          <a:xfrm>
            <a:off x="6324117" y="6409431"/>
            <a:ext cx="5351034" cy="9085"/>
          </a:xfrm>
          <a:custGeom>
            <a:rect b="b" l="l" r="r" t="t"/>
            <a:pathLst>
              <a:path extrusionOk="0" h="9085" w="5351034">
                <a:moveTo>
                  <a:pt x="0" y="0"/>
                </a:moveTo>
                <a:lnTo>
                  <a:pt x="5351034" y="0"/>
                </a:lnTo>
                <a:lnTo>
                  <a:pt x="5351034" y="9085"/>
                </a:lnTo>
                <a:lnTo>
                  <a:pt x="0" y="9085"/>
                </a:lnTo>
                <a:lnTo>
                  <a:pt x="0" y="0"/>
                </a:lnTo>
                <a:close/>
              </a:path>
            </a:pathLst>
          </a:custGeom>
          <a:solidFill>
            <a:srgbClr val="3DCC91">
              <a:alpha val="30196"/>
            </a:srgbClr>
          </a:solidFill>
          <a:ln>
            <a:noFill/>
          </a:ln>
        </p:spPr>
      </p:sp>
      <p:sp>
        <p:nvSpPr>
          <p:cNvPr id="95" name="Google Shape;95;p5"/>
          <p:cNvSpPr/>
          <p:nvPr/>
        </p:nvSpPr>
        <p:spPr>
          <a:xfrm>
            <a:off x="6351372" y="6518450"/>
            <a:ext cx="127189" cy="145359"/>
          </a:xfrm>
          <a:custGeom>
            <a:rect b="b" l="l" r="r" t="t"/>
            <a:pathLst>
              <a:path extrusionOk="0" h="145359" w="127189">
                <a:moveTo>
                  <a:pt x="127189" y="58428"/>
                </a:moveTo>
                <a:cubicBezTo>
                  <a:pt x="122987" y="61210"/>
                  <a:pt x="118161" y="63453"/>
                  <a:pt x="113136" y="65241"/>
                </a:cubicBezTo>
                <a:cubicBezTo>
                  <a:pt x="99792" y="70011"/>
                  <a:pt x="82276" y="72680"/>
                  <a:pt x="63595" y="72680"/>
                </a:cubicBezTo>
                <a:cubicBezTo>
                  <a:pt x="44914" y="72680"/>
                  <a:pt x="27368" y="69982"/>
                  <a:pt x="14053" y="65241"/>
                </a:cubicBezTo>
                <a:cubicBezTo>
                  <a:pt x="9057" y="63453"/>
                  <a:pt x="4202" y="61210"/>
                  <a:pt x="0" y="58428"/>
                </a:cubicBezTo>
                <a:lnTo>
                  <a:pt x="0" y="81765"/>
                </a:lnTo>
                <a:cubicBezTo>
                  <a:pt x="0" y="94313"/>
                  <a:pt x="28476" y="104477"/>
                  <a:pt x="63595" y="104477"/>
                </a:cubicBezTo>
                <a:cubicBezTo>
                  <a:pt x="98714" y="104477"/>
                  <a:pt x="127189" y="94313"/>
                  <a:pt x="127189" y="81765"/>
                </a:cubicBezTo>
                <a:lnTo>
                  <a:pt x="127189" y="58428"/>
                </a:lnTo>
                <a:close/>
                <a:moveTo>
                  <a:pt x="127189" y="36340"/>
                </a:moveTo>
                <a:lnTo>
                  <a:pt x="127189" y="22712"/>
                </a:lnTo>
                <a:cubicBezTo>
                  <a:pt x="127189" y="10164"/>
                  <a:pt x="98714" y="0"/>
                  <a:pt x="63595" y="0"/>
                </a:cubicBezTo>
                <a:cubicBezTo>
                  <a:pt x="28476" y="0"/>
                  <a:pt x="0" y="10164"/>
                  <a:pt x="0" y="22712"/>
                </a:cubicBezTo>
                <a:lnTo>
                  <a:pt x="0" y="36340"/>
                </a:lnTo>
                <a:cubicBezTo>
                  <a:pt x="0" y="48888"/>
                  <a:pt x="28476" y="59052"/>
                  <a:pt x="63595" y="59052"/>
                </a:cubicBezTo>
                <a:cubicBezTo>
                  <a:pt x="98714" y="59052"/>
                  <a:pt x="127189" y="48888"/>
                  <a:pt x="127189" y="36340"/>
                </a:cubicBezTo>
                <a:close/>
                <a:moveTo>
                  <a:pt x="113136" y="110666"/>
                </a:moveTo>
                <a:cubicBezTo>
                  <a:pt x="99821" y="115407"/>
                  <a:pt x="82304" y="118104"/>
                  <a:pt x="63595" y="118104"/>
                </a:cubicBezTo>
                <a:cubicBezTo>
                  <a:pt x="44885" y="118104"/>
                  <a:pt x="27368" y="115407"/>
                  <a:pt x="14053" y="110666"/>
                </a:cubicBezTo>
                <a:cubicBezTo>
                  <a:pt x="9057" y="108877"/>
                  <a:pt x="4202" y="106635"/>
                  <a:pt x="0" y="103852"/>
                </a:cubicBezTo>
                <a:lnTo>
                  <a:pt x="0" y="122647"/>
                </a:lnTo>
                <a:cubicBezTo>
                  <a:pt x="0" y="135195"/>
                  <a:pt x="28476" y="145359"/>
                  <a:pt x="63595" y="145359"/>
                </a:cubicBezTo>
                <a:cubicBezTo>
                  <a:pt x="98714" y="145359"/>
                  <a:pt x="127189" y="135195"/>
                  <a:pt x="127189" y="122647"/>
                </a:cubicBezTo>
                <a:lnTo>
                  <a:pt x="127189" y="103852"/>
                </a:lnTo>
                <a:cubicBezTo>
                  <a:pt x="122987" y="106635"/>
                  <a:pt x="118161" y="108877"/>
                  <a:pt x="113136" y="110666"/>
                </a:cubicBezTo>
                <a:close/>
              </a:path>
            </a:pathLst>
          </a:custGeom>
          <a:solidFill>
            <a:srgbClr val="E5E7E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557808" y="6486653"/>
            <a:ext cx="5190024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CB Insights Startup Failure Report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381000" y="476250"/>
            <a:ext cx="76200" cy="457200"/>
          </a:xfrm>
          <a:custGeom>
            <a:rect b="b" l="l" r="r" t="t"/>
            <a:pathLst>
              <a:path extrusionOk="0" h="457200" w="76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103" name="Google Shape;103;p6"/>
          <p:cNvSpPr/>
          <p:nvPr/>
        </p:nvSpPr>
        <p:spPr>
          <a:xfrm>
            <a:off x="571500" y="381000"/>
            <a:ext cx="3381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SOLUTION</a:t>
            </a:r>
            <a:endParaRPr b="0" i="0" sz="1600" u="none" cap="none" strike="noStrike"/>
          </a:p>
        </p:txBody>
      </p:sp>
      <p:sp>
        <p:nvSpPr>
          <p:cNvPr id="104" name="Google Shape;104;p6"/>
          <p:cNvSpPr/>
          <p:nvPr/>
        </p:nvSpPr>
        <p:spPr>
          <a:xfrm>
            <a:off x="571500" y="647700"/>
            <a:ext cx="4363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Meet Startup Spot Global</a:t>
            </a:r>
            <a:endParaRPr b="0" i="0" sz="1600" u="none" cap="none" strike="noStrike"/>
          </a:p>
        </p:txBody>
      </p:sp>
      <p:sp>
        <p:nvSpPr>
          <p:cNvPr id="105" name="Google Shape;105;p6"/>
          <p:cNvSpPr/>
          <p:nvPr/>
        </p:nvSpPr>
        <p:spPr>
          <a:xfrm>
            <a:off x="571500" y="1104900"/>
            <a:ext cx="11325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Transforming location data into entrepreneurial success</a:t>
            </a:r>
            <a:endParaRPr b="0" i="0" sz="1600" u="none" cap="none" strike="noStrike"/>
          </a:p>
        </p:txBody>
      </p:sp>
      <p:sp>
        <p:nvSpPr>
          <p:cNvPr id="106" name="Google Shape;106;p6"/>
          <p:cNvSpPr/>
          <p:nvPr/>
        </p:nvSpPr>
        <p:spPr>
          <a:xfrm>
            <a:off x="385763" y="1490663"/>
            <a:ext cx="6791325" cy="2847975"/>
          </a:xfrm>
          <a:custGeom>
            <a:rect b="b" l="l" r="r" t="t"/>
            <a:pathLst>
              <a:path extrusionOk="0" h="2847975" w="6791325">
                <a:moveTo>
                  <a:pt x="76212" y="0"/>
                </a:moveTo>
                <a:lnTo>
                  <a:pt x="6715113" y="0"/>
                </a:lnTo>
                <a:cubicBezTo>
                  <a:pt x="6757204" y="0"/>
                  <a:pt x="6791325" y="34121"/>
                  <a:pt x="6791325" y="76212"/>
                </a:cubicBezTo>
                <a:lnTo>
                  <a:pt x="6791325" y="2771763"/>
                </a:lnTo>
                <a:cubicBezTo>
                  <a:pt x="6791325" y="2813854"/>
                  <a:pt x="6757204" y="2847975"/>
                  <a:pt x="6715113" y="2847975"/>
                </a:cubicBezTo>
                <a:lnTo>
                  <a:pt x="76212" y="2847975"/>
                </a:lnTo>
                <a:cubicBezTo>
                  <a:pt x="34121" y="2847975"/>
                  <a:pt x="0" y="2813854"/>
                  <a:pt x="0" y="2771763"/>
                </a:cubicBezTo>
                <a:lnTo>
                  <a:pt x="0" y="76212"/>
                </a:lnTo>
                <a:cubicBezTo>
                  <a:pt x="0" y="34149"/>
                  <a:pt x="34149" y="0"/>
                  <a:pt x="76212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3DCC9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42925" y="164782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57225" y="1762125"/>
            <a:ext cx="228600" cy="228600"/>
          </a:xfrm>
          <a:custGeom>
            <a:rect b="b" l="l" r="r" t="t"/>
            <a:pathLst>
              <a:path extrusionOk="0" h="228600" w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114425" y="1724025"/>
            <a:ext cx="3317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What is Startup Spot Global?</a:t>
            </a:r>
            <a:endParaRPr b="0" i="0" sz="1600" u="none" cap="none" strike="noStrike"/>
          </a:p>
        </p:txBody>
      </p:sp>
      <p:sp>
        <p:nvSpPr>
          <p:cNvPr id="110" name="Google Shape;110;p6"/>
          <p:cNvSpPr/>
          <p:nvPr/>
        </p:nvSpPr>
        <p:spPr>
          <a:xfrm>
            <a:off x="542925" y="2219325"/>
            <a:ext cx="6553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intuitive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location intelligence product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that shifts from simple mapping to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 synergy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Instead of just showing users where things are, we process data to tell them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where they should be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600" u="none" cap="none" strike="noStrike"/>
          </a:p>
        </p:txBody>
      </p:sp>
      <p:sp>
        <p:nvSpPr>
          <p:cNvPr id="111" name="Google Shape;111;p6"/>
          <p:cNvSpPr/>
          <p:nvPr/>
        </p:nvSpPr>
        <p:spPr>
          <a:xfrm>
            <a:off x="542925" y="3076575"/>
            <a:ext cx="2085975" cy="1104900"/>
          </a:xfrm>
          <a:custGeom>
            <a:rect b="b" l="l" r="r" t="t"/>
            <a:pathLst>
              <a:path extrusionOk="0" h="1104900" w="2085975">
                <a:moveTo>
                  <a:pt x="76205" y="0"/>
                </a:moveTo>
                <a:lnTo>
                  <a:pt x="2009770" y="0"/>
                </a:lnTo>
                <a:cubicBezTo>
                  <a:pt x="2051857" y="0"/>
                  <a:pt x="2085975" y="34118"/>
                  <a:pt x="2085975" y="76205"/>
                </a:cubicBezTo>
                <a:lnTo>
                  <a:pt x="2085975" y="1028695"/>
                </a:lnTo>
                <a:cubicBezTo>
                  <a:pt x="2085975" y="1070782"/>
                  <a:pt x="2051857" y="1104900"/>
                  <a:pt x="20097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1483668" y="3190875"/>
            <a:ext cx="200025" cy="228600"/>
          </a:xfrm>
          <a:custGeom>
            <a:rect b="b" l="l" r="r" t="t"/>
            <a:pathLst>
              <a:path extrusionOk="0" h="228600" w="200025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00075" y="3495675"/>
            <a:ext cx="1971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r>
              <a:rPr b="1" lang="en-US" sz="1800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b="1" i="0" lang="en-US" sz="18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0M+</a:t>
            </a:r>
            <a:endParaRPr b="0" i="0" sz="1600" u="none" cap="none" strike="noStrike"/>
          </a:p>
        </p:txBody>
      </p:sp>
      <p:sp>
        <p:nvSpPr>
          <p:cNvPr id="114" name="Google Shape;114;p6"/>
          <p:cNvSpPr/>
          <p:nvPr/>
        </p:nvSpPr>
        <p:spPr>
          <a:xfrm>
            <a:off x="619125" y="3838575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Location Data Points </a:t>
            </a: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Across 200+ Countries </a:t>
            </a:r>
            <a:endParaRPr b="0" i="0" sz="1600" u="none" cap="none" strike="noStrike"/>
          </a:p>
        </p:txBody>
      </p:sp>
      <p:sp>
        <p:nvSpPr>
          <p:cNvPr id="115" name="Google Shape;115;p6"/>
          <p:cNvSpPr/>
          <p:nvPr/>
        </p:nvSpPr>
        <p:spPr>
          <a:xfrm>
            <a:off x="2738735" y="3076575"/>
            <a:ext cx="2085975" cy="1104900"/>
          </a:xfrm>
          <a:custGeom>
            <a:rect b="b" l="l" r="r" t="t"/>
            <a:pathLst>
              <a:path extrusionOk="0" h="1104900" w="2085975">
                <a:moveTo>
                  <a:pt x="76205" y="0"/>
                </a:moveTo>
                <a:lnTo>
                  <a:pt x="2009770" y="0"/>
                </a:lnTo>
                <a:cubicBezTo>
                  <a:pt x="2051857" y="0"/>
                  <a:pt x="2085975" y="34118"/>
                  <a:pt x="2085975" y="76205"/>
                </a:cubicBezTo>
                <a:lnTo>
                  <a:pt x="2085975" y="1028695"/>
                </a:lnTo>
                <a:cubicBezTo>
                  <a:pt x="2085975" y="1070782"/>
                  <a:pt x="2051857" y="1104900"/>
                  <a:pt x="20097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665190" y="3190875"/>
            <a:ext cx="228600" cy="228600"/>
          </a:xfrm>
          <a:custGeom>
            <a:rect b="b" l="l" r="r" t="t"/>
            <a:pathLst>
              <a:path extrusionOk="0" h="228600" w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2795885" y="3495675"/>
            <a:ext cx="1971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3-Score</a:t>
            </a:r>
            <a:endParaRPr b="0" i="0" sz="1600" u="none" cap="none" strike="noStrike"/>
          </a:p>
        </p:txBody>
      </p:sp>
      <p:sp>
        <p:nvSpPr>
          <p:cNvPr id="118" name="Google Shape;118;p6"/>
          <p:cNvSpPr/>
          <p:nvPr/>
        </p:nvSpPr>
        <p:spPr>
          <a:xfrm>
            <a:off x="2814935" y="3838575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Algorithm System</a:t>
            </a:r>
            <a:endParaRPr b="0" i="0" sz="1600" u="none" cap="none" strike="noStrike"/>
          </a:p>
        </p:txBody>
      </p:sp>
      <p:sp>
        <p:nvSpPr>
          <p:cNvPr id="119" name="Google Shape;119;p6"/>
          <p:cNvSpPr/>
          <p:nvPr/>
        </p:nvSpPr>
        <p:spPr>
          <a:xfrm>
            <a:off x="4934545" y="3076575"/>
            <a:ext cx="2085975" cy="1104900"/>
          </a:xfrm>
          <a:custGeom>
            <a:rect b="b" l="l" r="r" t="t"/>
            <a:pathLst>
              <a:path extrusionOk="0" h="1104900" w="2085975">
                <a:moveTo>
                  <a:pt x="76205" y="0"/>
                </a:moveTo>
                <a:lnTo>
                  <a:pt x="2009770" y="0"/>
                </a:lnTo>
                <a:cubicBezTo>
                  <a:pt x="2051857" y="0"/>
                  <a:pt x="2085975" y="34118"/>
                  <a:pt x="2085975" y="76205"/>
                </a:cubicBezTo>
                <a:lnTo>
                  <a:pt x="2085975" y="1028695"/>
                </a:lnTo>
                <a:cubicBezTo>
                  <a:pt x="2085975" y="1070782"/>
                  <a:pt x="2051857" y="1104900"/>
                  <a:pt x="20097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861000" y="3190875"/>
            <a:ext cx="228600" cy="228600"/>
          </a:xfrm>
          <a:custGeom>
            <a:rect b="b" l="l" r="r" t="t"/>
            <a:pathLst>
              <a:path extrusionOk="0" h="228600" w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991695" y="3495675"/>
            <a:ext cx="1971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122" name="Google Shape;122;p6"/>
          <p:cNvSpPr/>
          <p:nvPr/>
        </p:nvSpPr>
        <p:spPr>
          <a:xfrm>
            <a:off x="5010745" y="3838575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Optimal Location</a:t>
            </a:r>
            <a:endParaRPr b="0" i="0" sz="1600" u="none" cap="none" strike="noStrike"/>
          </a:p>
        </p:txBody>
      </p:sp>
      <p:sp>
        <p:nvSpPr>
          <p:cNvPr id="123" name="Google Shape;123;p6"/>
          <p:cNvSpPr/>
          <p:nvPr/>
        </p:nvSpPr>
        <p:spPr>
          <a:xfrm>
            <a:off x="381000" y="4495800"/>
            <a:ext cx="6800850" cy="2324100"/>
          </a:xfrm>
          <a:custGeom>
            <a:rect b="b" l="l" r="r" t="t"/>
            <a:pathLst>
              <a:path extrusionOk="0" h="2324100" w="6800850">
                <a:moveTo>
                  <a:pt x="76207" y="0"/>
                </a:moveTo>
                <a:lnTo>
                  <a:pt x="6724643" y="0"/>
                </a:lnTo>
                <a:cubicBezTo>
                  <a:pt x="6766731" y="0"/>
                  <a:pt x="6800850" y="34119"/>
                  <a:pt x="6800850" y="76207"/>
                </a:cubicBezTo>
                <a:lnTo>
                  <a:pt x="6800850" y="2247893"/>
                </a:lnTo>
                <a:cubicBezTo>
                  <a:pt x="6800850" y="2289981"/>
                  <a:pt x="6766731" y="2324100"/>
                  <a:pt x="6724643" y="2324100"/>
                </a:cubicBezTo>
                <a:lnTo>
                  <a:pt x="76207" y="2324100"/>
                </a:lnTo>
                <a:cubicBezTo>
                  <a:pt x="34119" y="2324100"/>
                  <a:pt x="0" y="2289981"/>
                  <a:pt x="0" y="2247893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33400" y="4686300"/>
            <a:ext cx="238125" cy="190500"/>
          </a:xfrm>
          <a:custGeom>
            <a:rect b="b" l="l" r="r" t="t"/>
            <a:pathLst>
              <a:path extrusionOk="0" h="190500" w="238125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771525" y="4648200"/>
            <a:ext cx="6353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How It Works</a:t>
            </a:r>
            <a:endParaRPr b="0" i="0" sz="1600" u="none" cap="none" strike="noStrike"/>
          </a:p>
        </p:txBody>
      </p:sp>
      <p:sp>
        <p:nvSpPr>
          <p:cNvPr id="126" name="Google Shape;126;p6"/>
          <p:cNvSpPr/>
          <p:nvPr/>
        </p:nvSpPr>
        <p:spPr>
          <a:xfrm>
            <a:off x="533400" y="50292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99715" y="5105400"/>
            <a:ext cx="123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128" name="Google Shape;128;p6"/>
          <p:cNvSpPr/>
          <p:nvPr/>
        </p:nvSpPr>
        <p:spPr>
          <a:xfrm>
            <a:off x="1028700" y="5029200"/>
            <a:ext cx="5019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 Business Type</a:t>
            </a:r>
            <a:endParaRPr b="0" i="0" sz="1600" u="none" cap="none" strike="noStrike"/>
          </a:p>
        </p:txBody>
      </p:sp>
      <p:sp>
        <p:nvSpPr>
          <p:cNvPr id="129" name="Google Shape;129;p6"/>
          <p:cNvSpPr/>
          <p:nvPr/>
        </p:nvSpPr>
        <p:spPr>
          <a:xfrm>
            <a:off x="1028700" y="5295900"/>
            <a:ext cx="5019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selects their planned business category (e.g., Coffee Shop, Restaurant)</a:t>
            </a:r>
            <a:endParaRPr b="0" i="0" sz="1600" u="none" cap="none" strike="noStrike"/>
          </a:p>
        </p:txBody>
      </p:sp>
      <p:sp>
        <p:nvSpPr>
          <p:cNvPr id="130" name="Google Shape;130;p6"/>
          <p:cNvSpPr/>
          <p:nvPr/>
        </p:nvSpPr>
        <p:spPr>
          <a:xfrm>
            <a:off x="533400" y="56007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85056" y="567690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132" name="Google Shape;132;p6"/>
          <p:cNvSpPr/>
          <p:nvPr/>
        </p:nvSpPr>
        <p:spPr>
          <a:xfrm>
            <a:off x="1028700" y="5600700"/>
            <a:ext cx="4981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Analyze Dataset</a:t>
            </a:r>
            <a:endParaRPr b="0" i="0" sz="1600" u="none" cap="none" strike="noStrike"/>
          </a:p>
        </p:txBody>
      </p:sp>
      <p:sp>
        <p:nvSpPr>
          <p:cNvPr id="133" name="Google Shape;133;p6"/>
          <p:cNvSpPr/>
          <p:nvPr/>
        </p:nvSpPr>
        <p:spPr>
          <a:xfrm>
            <a:off x="1028700" y="5867400"/>
            <a:ext cx="4981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Platform processes 100M+ real-world coordinates and business categories</a:t>
            </a:r>
            <a:endParaRPr b="0" i="0" sz="1600" u="none" cap="none" strike="noStrike"/>
          </a:p>
        </p:txBody>
      </p:sp>
      <p:sp>
        <p:nvSpPr>
          <p:cNvPr id="134" name="Google Shape;134;p6"/>
          <p:cNvSpPr/>
          <p:nvPr/>
        </p:nvSpPr>
        <p:spPr>
          <a:xfrm>
            <a:off x="533400" y="61722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683121" y="6248400"/>
            <a:ext cx="161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136" name="Google Shape;136;p6"/>
          <p:cNvSpPr/>
          <p:nvPr/>
        </p:nvSpPr>
        <p:spPr>
          <a:xfrm>
            <a:off x="1028700" y="6172200"/>
            <a:ext cx="4714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 Recommendation</a:t>
            </a:r>
            <a:endParaRPr b="0" i="0" sz="1600" u="none" cap="none" strike="noStrike"/>
          </a:p>
        </p:txBody>
      </p:sp>
      <p:sp>
        <p:nvSpPr>
          <p:cNvPr id="137" name="Google Shape;137;p6"/>
          <p:cNvSpPr/>
          <p:nvPr/>
        </p:nvSpPr>
        <p:spPr>
          <a:xfrm>
            <a:off x="1028700" y="6438900"/>
            <a:ext cx="4714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Receive definitive, data-backed location with highest success potential</a:t>
            </a:r>
            <a:endParaRPr b="0" i="0" sz="1600" u="none" cap="none" strike="noStrike"/>
          </a:p>
        </p:txBody>
      </p:sp>
      <p:sp>
        <p:nvSpPr>
          <p:cNvPr id="138" name="Google Shape;138;p6"/>
          <p:cNvSpPr/>
          <p:nvPr/>
        </p:nvSpPr>
        <p:spPr>
          <a:xfrm>
            <a:off x="7330380" y="1485900"/>
            <a:ext cx="4476750" cy="4057650"/>
          </a:xfrm>
          <a:custGeom>
            <a:rect b="b" l="l" r="r" t="t"/>
            <a:pathLst>
              <a:path extrusionOk="0" h="4057650" w="4476750">
                <a:moveTo>
                  <a:pt x="76203" y="0"/>
                </a:moveTo>
                <a:lnTo>
                  <a:pt x="4400547" y="0"/>
                </a:lnTo>
                <a:cubicBezTo>
                  <a:pt x="4442633" y="0"/>
                  <a:pt x="4476750" y="34117"/>
                  <a:pt x="4476750" y="76203"/>
                </a:cubicBezTo>
                <a:lnTo>
                  <a:pt x="4476750" y="3981447"/>
                </a:lnTo>
                <a:cubicBezTo>
                  <a:pt x="4476750" y="4023533"/>
                  <a:pt x="4442633" y="4057650"/>
                  <a:pt x="4400547" y="4057650"/>
                </a:cubicBezTo>
                <a:lnTo>
                  <a:pt x="76203" y="4057650"/>
                </a:lnTo>
                <a:cubicBezTo>
                  <a:pt x="34117" y="4057650"/>
                  <a:pt x="0" y="4023533"/>
                  <a:pt x="0" y="39814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7494687" y="1676400"/>
            <a:ext cx="214313" cy="190500"/>
          </a:xfrm>
          <a:custGeom>
            <a:rect b="b" l="l" r="r" t="t"/>
            <a:pathLst>
              <a:path extrusionOk="0" h="190500" w="214313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7720905" y="1638300"/>
            <a:ext cx="4029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Key Innovation</a:t>
            </a:r>
            <a:endParaRPr b="0" i="0" sz="1600" u="none" cap="none" strike="noStrike"/>
          </a:p>
        </p:txBody>
      </p:sp>
      <p:sp>
        <p:nvSpPr>
          <p:cNvPr id="141" name="Google Shape;141;p6"/>
          <p:cNvSpPr/>
          <p:nvPr/>
        </p:nvSpPr>
        <p:spPr>
          <a:xfrm>
            <a:off x="7501830" y="2019300"/>
            <a:ext cx="4152900" cy="990600"/>
          </a:xfrm>
          <a:custGeom>
            <a:rect b="b" l="l" r="r" t="t"/>
            <a:pathLst>
              <a:path extrusionOk="0" h="990600" w="4152900">
                <a:moveTo>
                  <a:pt x="38100" y="0"/>
                </a:moveTo>
                <a:lnTo>
                  <a:pt x="4076703" y="0"/>
                </a:lnTo>
                <a:cubicBezTo>
                  <a:pt x="4118785" y="0"/>
                  <a:pt x="4152900" y="34115"/>
                  <a:pt x="4152900" y="76197"/>
                </a:cubicBezTo>
                <a:lnTo>
                  <a:pt x="4152900" y="914403"/>
                </a:lnTo>
                <a:cubicBezTo>
                  <a:pt x="4152900" y="956485"/>
                  <a:pt x="4118785" y="990600"/>
                  <a:pt x="40767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7501830" y="2019300"/>
            <a:ext cx="38100" cy="990600"/>
          </a:xfrm>
          <a:custGeom>
            <a:rect b="b" l="l" r="r" t="t"/>
            <a:pathLst>
              <a:path extrusionOk="0" h="990600" w="381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7635180" y="2171700"/>
            <a:ext cx="190500" cy="152400"/>
          </a:xfrm>
          <a:custGeom>
            <a:rect b="b" l="l" r="r" t="t"/>
            <a:pathLst>
              <a:path extrusionOk="0" h="152400" w="190500">
                <a:moveTo>
                  <a:pt x="171450" y="14288"/>
                </a:moveTo>
                <a:cubicBezTo>
                  <a:pt x="171450" y="10984"/>
                  <a:pt x="169753" y="7918"/>
                  <a:pt x="166926" y="6191"/>
                </a:cubicBezTo>
                <a:cubicBezTo>
                  <a:pt x="164098" y="4465"/>
                  <a:pt x="160615" y="4286"/>
                  <a:pt x="157669" y="5775"/>
                </a:cubicBezTo>
                <a:lnTo>
                  <a:pt x="123081" y="23068"/>
                </a:lnTo>
                <a:lnTo>
                  <a:pt x="69681" y="5239"/>
                </a:lnTo>
                <a:cubicBezTo>
                  <a:pt x="67270" y="4435"/>
                  <a:pt x="64681" y="4614"/>
                  <a:pt x="62419" y="5745"/>
                </a:cubicBezTo>
                <a:lnTo>
                  <a:pt x="24319" y="24795"/>
                </a:lnTo>
                <a:cubicBezTo>
                  <a:pt x="21074" y="26432"/>
                  <a:pt x="19050" y="29736"/>
                  <a:pt x="19050" y="33338"/>
                </a:cubicBezTo>
                <a:lnTo>
                  <a:pt x="19050" y="138113"/>
                </a:lnTo>
                <a:cubicBezTo>
                  <a:pt x="19050" y="141416"/>
                  <a:pt x="20747" y="144482"/>
                  <a:pt x="23574" y="146209"/>
                </a:cubicBezTo>
                <a:cubicBezTo>
                  <a:pt x="26402" y="147935"/>
                  <a:pt x="29885" y="148114"/>
                  <a:pt x="32831" y="146625"/>
                </a:cubicBezTo>
                <a:lnTo>
                  <a:pt x="67389" y="129332"/>
                </a:lnTo>
                <a:lnTo>
                  <a:pt x="118973" y="146536"/>
                </a:lnTo>
                <a:cubicBezTo>
                  <a:pt x="117693" y="144631"/>
                  <a:pt x="116443" y="142637"/>
                  <a:pt x="115223" y="140613"/>
                </a:cubicBezTo>
                <a:cubicBezTo>
                  <a:pt x="111949" y="135166"/>
                  <a:pt x="108704" y="128915"/>
                  <a:pt x="106293" y="122218"/>
                </a:cubicBezTo>
                <a:lnTo>
                  <a:pt x="76170" y="112187"/>
                </a:lnTo>
                <a:lnTo>
                  <a:pt x="76170" y="27503"/>
                </a:lnTo>
                <a:lnTo>
                  <a:pt x="114270" y="40213"/>
                </a:lnTo>
                <a:lnTo>
                  <a:pt x="114270" y="69771"/>
                </a:lnTo>
                <a:cubicBezTo>
                  <a:pt x="123498" y="59115"/>
                  <a:pt x="137190" y="52387"/>
                  <a:pt x="152370" y="52387"/>
                </a:cubicBezTo>
                <a:cubicBezTo>
                  <a:pt x="159097" y="52387"/>
                  <a:pt x="165527" y="53697"/>
                  <a:pt x="171420" y="56108"/>
                </a:cubicBezTo>
                <a:lnTo>
                  <a:pt x="171450" y="14288"/>
                </a:lnTo>
                <a:close/>
                <a:moveTo>
                  <a:pt x="152400" y="66675"/>
                </a:moveTo>
                <a:cubicBezTo>
                  <a:pt x="132665" y="66675"/>
                  <a:pt x="116681" y="82391"/>
                  <a:pt x="116681" y="101769"/>
                </a:cubicBezTo>
                <a:cubicBezTo>
                  <a:pt x="116681" y="122277"/>
                  <a:pt x="135761" y="146536"/>
                  <a:pt x="146030" y="158115"/>
                </a:cubicBezTo>
                <a:cubicBezTo>
                  <a:pt x="149483" y="161985"/>
                  <a:pt x="155347" y="161985"/>
                  <a:pt x="158800" y="158115"/>
                </a:cubicBezTo>
                <a:cubicBezTo>
                  <a:pt x="169069" y="146536"/>
                  <a:pt x="188149" y="122277"/>
                  <a:pt x="188149" y="101769"/>
                </a:cubicBezTo>
                <a:cubicBezTo>
                  <a:pt x="188149" y="82391"/>
                  <a:pt x="172164" y="66675"/>
                  <a:pt x="152430" y="66675"/>
                </a:cubicBezTo>
                <a:close/>
                <a:moveTo>
                  <a:pt x="140494" y="102394"/>
                </a:moveTo>
                <a:cubicBezTo>
                  <a:pt x="140494" y="95823"/>
                  <a:pt x="145829" y="90488"/>
                  <a:pt x="152400" y="90488"/>
                </a:cubicBezTo>
                <a:cubicBezTo>
                  <a:pt x="158971" y="90488"/>
                  <a:pt x="164306" y="95823"/>
                  <a:pt x="164306" y="102394"/>
                </a:cubicBezTo>
                <a:cubicBezTo>
                  <a:pt x="164306" y="108965"/>
                  <a:pt x="158971" y="114300"/>
                  <a:pt x="152400" y="114300"/>
                </a:cubicBezTo>
                <a:cubicBezTo>
                  <a:pt x="145829" y="114300"/>
                  <a:pt x="140494" y="108965"/>
                  <a:pt x="140494" y="102394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7901880" y="21336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Predictive, Not Descriptive</a:t>
            </a:r>
            <a:endParaRPr b="0" i="0" sz="1600" u="none" cap="none" strike="noStrike"/>
          </a:p>
        </p:txBody>
      </p:sp>
      <p:sp>
        <p:nvSpPr>
          <p:cNvPr id="145" name="Google Shape;145;p6"/>
          <p:cNvSpPr/>
          <p:nvPr/>
        </p:nvSpPr>
        <p:spPr>
          <a:xfrm>
            <a:off x="7635180" y="2438400"/>
            <a:ext cx="398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don't just show where businesses exist - we predict where they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should exist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maximum success</a:t>
            </a:r>
            <a:endParaRPr b="0" i="0" sz="16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7501830" y="3124200"/>
            <a:ext cx="4152900" cy="990600"/>
          </a:xfrm>
          <a:custGeom>
            <a:rect b="b" l="l" r="r" t="t"/>
            <a:pathLst>
              <a:path extrusionOk="0" h="990600" w="4152900">
                <a:moveTo>
                  <a:pt x="38100" y="0"/>
                </a:moveTo>
                <a:lnTo>
                  <a:pt x="4076703" y="0"/>
                </a:lnTo>
                <a:cubicBezTo>
                  <a:pt x="4118785" y="0"/>
                  <a:pt x="4152900" y="34115"/>
                  <a:pt x="4152900" y="76197"/>
                </a:cubicBezTo>
                <a:lnTo>
                  <a:pt x="4152900" y="914403"/>
                </a:lnTo>
                <a:cubicBezTo>
                  <a:pt x="4152900" y="956485"/>
                  <a:pt x="4118785" y="990600"/>
                  <a:pt x="40767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501830" y="3124200"/>
            <a:ext cx="38100" cy="990600"/>
          </a:xfrm>
          <a:custGeom>
            <a:rect b="b" l="l" r="r" t="t"/>
            <a:pathLst>
              <a:path extrusionOk="0" h="990600" w="381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7635180" y="3276600"/>
            <a:ext cx="190500" cy="152400"/>
          </a:xfrm>
          <a:custGeom>
            <a:rect b="b" l="l" r="r" t="t"/>
            <a:pathLst>
              <a:path extrusionOk="0" h="152400" w="1905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7901880" y="323850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Multi-Factor Scoring</a:t>
            </a:r>
            <a:endParaRPr b="0" i="0" sz="1600" u="none" cap="none" strike="noStrike"/>
          </a:p>
        </p:txBody>
      </p:sp>
      <p:sp>
        <p:nvSpPr>
          <p:cNvPr id="150" name="Google Shape;150;p6"/>
          <p:cNvSpPr/>
          <p:nvPr/>
        </p:nvSpPr>
        <p:spPr>
          <a:xfrm>
            <a:off x="7635180" y="3543300"/>
            <a:ext cx="398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algorithm balances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density, competition, and synergy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find the sweet spot</a:t>
            </a:r>
            <a:endParaRPr b="0" i="0" sz="1600" u="none" cap="none" strike="noStrike"/>
          </a:p>
        </p:txBody>
      </p:sp>
      <p:sp>
        <p:nvSpPr>
          <p:cNvPr id="151" name="Google Shape;151;p6"/>
          <p:cNvSpPr/>
          <p:nvPr/>
        </p:nvSpPr>
        <p:spPr>
          <a:xfrm>
            <a:off x="7501830" y="4229100"/>
            <a:ext cx="4152900" cy="990600"/>
          </a:xfrm>
          <a:custGeom>
            <a:rect b="b" l="l" r="r" t="t"/>
            <a:pathLst>
              <a:path extrusionOk="0" h="990600" w="4152900">
                <a:moveTo>
                  <a:pt x="38100" y="0"/>
                </a:moveTo>
                <a:lnTo>
                  <a:pt x="4076703" y="0"/>
                </a:lnTo>
                <a:cubicBezTo>
                  <a:pt x="4118785" y="0"/>
                  <a:pt x="4152900" y="34115"/>
                  <a:pt x="4152900" y="76197"/>
                </a:cubicBezTo>
                <a:lnTo>
                  <a:pt x="4152900" y="914403"/>
                </a:lnTo>
                <a:cubicBezTo>
                  <a:pt x="4152900" y="956485"/>
                  <a:pt x="4118785" y="990600"/>
                  <a:pt x="40767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7501830" y="4229100"/>
            <a:ext cx="38100" cy="990600"/>
          </a:xfrm>
          <a:custGeom>
            <a:rect b="b" l="l" r="r" t="t"/>
            <a:pathLst>
              <a:path extrusionOk="0" h="990600" w="381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7654230" y="4381500"/>
            <a:ext cx="152400" cy="152400"/>
          </a:xfrm>
          <a:custGeom>
            <a:rect b="b" l="l" r="r" t="t"/>
            <a:pathLst>
              <a:path extrusionOk="0" h="152400" w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7901880" y="4343400"/>
            <a:ext cx="1619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Non-Technical Friendly</a:t>
            </a:r>
            <a:endParaRPr b="0" i="0" sz="1600" u="none" cap="none" strike="noStrike"/>
          </a:p>
        </p:txBody>
      </p:sp>
      <p:sp>
        <p:nvSpPr>
          <p:cNvPr id="155" name="Google Shape;155;p6"/>
          <p:cNvSpPr/>
          <p:nvPr/>
        </p:nvSpPr>
        <p:spPr>
          <a:xfrm>
            <a:off x="7635180" y="4648200"/>
            <a:ext cx="398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Complex data science made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accessible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everyday entrepreneurs without technical expertise</a:t>
            </a:r>
            <a:endParaRPr b="0" i="0" sz="1600" u="none" cap="none" strike="noStrike"/>
          </a:p>
        </p:txBody>
      </p:sp>
      <p:sp>
        <p:nvSpPr>
          <p:cNvPr id="156" name="Google Shape;156;p6"/>
          <p:cNvSpPr/>
          <p:nvPr/>
        </p:nvSpPr>
        <p:spPr>
          <a:xfrm>
            <a:off x="7335143" y="5700713"/>
            <a:ext cx="4467225" cy="1114425"/>
          </a:xfrm>
          <a:custGeom>
            <a:rect b="b" l="l" r="r" t="t"/>
            <a:pathLst>
              <a:path extrusionOk="0" h="1114425" w="4467225">
                <a:moveTo>
                  <a:pt x="76204" y="0"/>
                </a:moveTo>
                <a:lnTo>
                  <a:pt x="4391021" y="0"/>
                </a:lnTo>
                <a:cubicBezTo>
                  <a:pt x="4433107" y="0"/>
                  <a:pt x="4467225" y="34118"/>
                  <a:pt x="4467225" y="76204"/>
                </a:cubicBezTo>
                <a:lnTo>
                  <a:pt x="4467225" y="1038221"/>
                </a:lnTo>
                <a:cubicBezTo>
                  <a:pt x="4467225" y="1080307"/>
                  <a:pt x="4433107" y="1114425"/>
                  <a:pt x="4391021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30196"/>
                </a:srgbClr>
              </a:gs>
              <a:gs pos="100000">
                <a:srgbClr val="3DCC91">
                  <a:alpha val="10196"/>
                </a:srgbClr>
              </a:gs>
            </a:gsLst>
            <a:lin ang="0" scaled="0"/>
          </a:gradFill>
          <a:ln cap="flat" cmpd="sng" w="12700">
            <a:solidFill>
              <a:srgbClr val="3DCC9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7487543" y="6143625"/>
            <a:ext cx="200025" cy="228600"/>
          </a:xfrm>
          <a:custGeom>
            <a:rect b="b" l="l" r="r" t="t"/>
            <a:pathLst>
              <a:path extrusionOk="0" h="228600" w="200025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7801719" y="5857875"/>
            <a:ext cx="3924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"We </a:t>
            </a:r>
            <a:r>
              <a:rPr lang="en-US" sz="120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data to work with the environment we are given not against it</a:t>
            </a:r>
            <a:r>
              <a:rPr b="0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."</a:t>
            </a:r>
            <a:endParaRPr b="0" i="0" sz="1600" u="none" cap="none" strike="noStrike"/>
          </a:p>
        </p:txBody>
      </p:sp>
      <p:sp>
        <p:nvSpPr>
          <p:cNvPr id="159" name="Google Shape;159;p6"/>
          <p:cNvSpPr/>
          <p:nvPr/>
        </p:nvSpPr>
        <p:spPr>
          <a:xfrm>
            <a:off x="7801719" y="6429375"/>
            <a:ext cx="392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Startup Spot Global Team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381000" y="466725"/>
            <a:ext cx="76200" cy="457200"/>
          </a:xfrm>
          <a:custGeom>
            <a:rect b="b" l="l" r="r" t="t"/>
            <a:pathLst>
              <a:path extrusionOk="0" h="457200" w="76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166" name="Google Shape;166;p7"/>
          <p:cNvSpPr/>
          <p:nvPr/>
        </p:nvSpPr>
        <p:spPr>
          <a:xfrm>
            <a:off x="571500" y="381000"/>
            <a:ext cx="598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TECHNICAL EXECUTION</a:t>
            </a:r>
            <a:endParaRPr b="1" sz="1200">
              <a:solidFill>
                <a:srgbClr val="3DCC9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71500" y="628650"/>
            <a:ext cx="6077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Under the Hood: The Scoring Algorithm</a:t>
            </a:r>
            <a:endParaRPr b="0" i="0" sz="1600" u="none" cap="none" strike="noStrike"/>
          </a:p>
        </p:txBody>
      </p:sp>
      <p:sp>
        <p:nvSpPr>
          <p:cNvPr id="168" name="Google Shape;168;p7"/>
          <p:cNvSpPr/>
          <p:nvPr/>
        </p:nvSpPr>
        <p:spPr>
          <a:xfrm>
            <a:off x="571500" y="1047750"/>
            <a:ext cx="11325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strategy &amp; technical implementation</a:t>
            </a:r>
            <a:endParaRPr b="0" i="0" sz="160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385763" y="1395413"/>
            <a:ext cx="3724275" cy="4276725"/>
          </a:xfrm>
          <a:custGeom>
            <a:rect b="b" l="l" r="r" t="t"/>
            <a:pathLst>
              <a:path extrusionOk="0" h="4276725" w="372427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4200526"/>
                </a:lnTo>
                <a:cubicBezTo>
                  <a:pt x="3724275" y="4242610"/>
                  <a:pt x="3690160" y="4276725"/>
                  <a:pt x="3648076" y="4276725"/>
                </a:cubicBezTo>
                <a:lnTo>
                  <a:pt x="76199" y="4276725"/>
                </a:lnTo>
                <a:cubicBezTo>
                  <a:pt x="34115" y="4276725"/>
                  <a:pt x="0" y="4242610"/>
                  <a:pt x="0" y="42005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6" scaled="0"/>
          </a:gradFill>
          <a:ln cap="flat" cmpd="sng" w="12700">
            <a:solidFill>
              <a:srgbClr val="3DCC9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04825" y="153352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47700" y="1647825"/>
            <a:ext cx="171450" cy="228600"/>
          </a:xfrm>
          <a:custGeom>
            <a:rect b="b" l="l" r="r" t="t"/>
            <a:pathLst>
              <a:path extrusionOk="0" h="228600" w="17145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076325" y="1514475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 1</a:t>
            </a:r>
            <a:endParaRPr b="0" i="0" sz="1600" u="none" cap="none" strike="noStrike"/>
          </a:p>
        </p:txBody>
      </p:sp>
      <p:sp>
        <p:nvSpPr>
          <p:cNvPr id="173" name="Google Shape;173;p7"/>
          <p:cNvSpPr/>
          <p:nvPr/>
        </p:nvSpPr>
        <p:spPr>
          <a:xfrm>
            <a:off x="1076325" y="1743075"/>
            <a:ext cx="1124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Hub Density</a:t>
            </a:r>
            <a:endParaRPr b="0" i="0" sz="1600" u="none" cap="none" strike="noStrike"/>
          </a:p>
        </p:txBody>
      </p:sp>
      <p:sp>
        <p:nvSpPr>
          <p:cNvPr id="174" name="Google Shape;174;p7"/>
          <p:cNvSpPr/>
          <p:nvPr/>
        </p:nvSpPr>
        <p:spPr>
          <a:xfrm>
            <a:off x="504825" y="2085975"/>
            <a:ext cx="3486150" cy="914400"/>
          </a:xfrm>
          <a:custGeom>
            <a:rect b="b" l="l" r="r" t="t"/>
            <a:pathLst>
              <a:path extrusionOk="0" h="914400" w="3486150">
                <a:moveTo>
                  <a:pt x="76197" y="0"/>
                </a:moveTo>
                <a:lnTo>
                  <a:pt x="3409953" y="0"/>
                </a:lnTo>
                <a:cubicBezTo>
                  <a:pt x="3452035" y="0"/>
                  <a:pt x="3486150" y="34115"/>
                  <a:pt x="3486150" y="76197"/>
                </a:cubicBezTo>
                <a:lnTo>
                  <a:pt x="3486150" y="838203"/>
                </a:lnTo>
                <a:cubicBezTo>
                  <a:pt x="3486150" y="880285"/>
                  <a:pt x="3452035" y="914400"/>
                  <a:pt x="34099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81025" y="2162175"/>
            <a:ext cx="341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 Score</a:t>
            </a:r>
            <a:endParaRPr b="0" i="0" sz="1600" u="none" cap="none" strike="noStrike"/>
          </a:p>
        </p:txBody>
      </p:sp>
      <p:sp>
        <p:nvSpPr>
          <p:cNvPr id="176" name="Google Shape;176;p7"/>
          <p:cNvSpPr/>
          <p:nvPr/>
        </p:nvSpPr>
        <p:spPr>
          <a:xfrm>
            <a:off x="581025" y="2428875"/>
            <a:ext cx="3410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Maps coordinates to define </a:t>
            </a: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Points of Interest (POIs)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Greater density = larger </a:t>
            </a: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radius.</a:t>
            </a:r>
            <a:endParaRPr b="0" i="0" sz="1600" u="none" cap="none" strike="noStrike"/>
          </a:p>
        </p:txBody>
      </p:sp>
      <p:sp>
        <p:nvSpPr>
          <p:cNvPr id="177" name="Google Shape;177;p7"/>
          <p:cNvSpPr/>
          <p:nvPr/>
        </p:nvSpPr>
        <p:spPr>
          <a:xfrm>
            <a:off x="523875" y="31146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771525" y="3076575"/>
            <a:ext cx="21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Identifies active business zones</a:t>
            </a:r>
            <a:endParaRPr b="0" i="0" sz="1600" u="none" cap="none" strike="noStrike"/>
          </a:p>
        </p:txBody>
      </p:sp>
      <p:sp>
        <p:nvSpPr>
          <p:cNvPr id="179" name="Google Shape;179;p7"/>
          <p:cNvSpPr/>
          <p:nvPr/>
        </p:nvSpPr>
        <p:spPr>
          <a:xfrm>
            <a:off x="523875" y="340042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771525" y="3362325"/>
            <a:ext cx="22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Dynamic radius based on density</a:t>
            </a:r>
            <a:endParaRPr b="0" i="0" sz="1600" u="none" cap="none" strike="noStrike"/>
          </a:p>
        </p:txBody>
      </p:sp>
      <p:sp>
        <p:nvSpPr>
          <p:cNvPr id="181" name="Google Shape;181;p7"/>
          <p:cNvSpPr/>
          <p:nvPr/>
        </p:nvSpPr>
        <p:spPr>
          <a:xfrm>
            <a:off x="523875" y="36861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771525" y="3648075"/>
            <a:ext cx="2333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density = higher base score</a:t>
            </a:r>
            <a:endParaRPr b="0" i="0" sz="1600" u="none" cap="none" strike="noStrike"/>
          </a:p>
        </p:txBody>
      </p:sp>
      <p:sp>
        <p:nvSpPr>
          <p:cNvPr id="183" name="Google Shape;183;p7"/>
          <p:cNvSpPr/>
          <p:nvPr/>
        </p:nvSpPr>
        <p:spPr>
          <a:xfrm>
            <a:off x="504825" y="5205413"/>
            <a:ext cx="3486150" cy="9525"/>
          </a:xfrm>
          <a:custGeom>
            <a:rect b="b" l="l" r="r" t="t"/>
            <a:pathLst>
              <a:path extrusionOk="0" h="9525" w="3486150">
                <a:moveTo>
                  <a:pt x="0" y="0"/>
                </a:moveTo>
                <a:lnTo>
                  <a:pt x="3486150" y="0"/>
                </a:lnTo>
                <a:lnTo>
                  <a:pt x="3486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DCC91">
              <a:alpha val="30199"/>
            </a:srgbClr>
          </a:solidFill>
          <a:ln>
            <a:noFill/>
          </a:ln>
        </p:spPr>
      </p:sp>
      <p:sp>
        <p:nvSpPr>
          <p:cNvPr id="184" name="Google Shape;184;p7"/>
          <p:cNvSpPr/>
          <p:nvPr/>
        </p:nvSpPr>
        <p:spPr>
          <a:xfrm>
            <a:off x="504825" y="5305425"/>
            <a:ext cx="5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Weight</a:t>
            </a:r>
            <a:endParaRPr b="0" i="0" sz="1600" u="none" cap="none" strike="noStrike"/>
          </a:p>
        </p:txBody>
      </p:sp>
      <p:sp>
        <p:nvSpPr>
          <p:cNvPr id="185" name="Google Shape;185;p7"/>
          <p:cNvSpPr/>
          <p:nvPr/>
        </p:nvSpPr>
        <p:spPr>
          <a:xfrm>
            <a:off x="3607073" y="5286375"/>
            <a:ext cx="476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</a:t>
            </a:r>
            <a:endParaRPr b="0" i="0" sz="1600" u="none" cap="none" strike="noStrike"/>
          </a:p>
        </p:txBody>
      </p:sp>
      <p:sp>
        <p:nvSpPr>
          <p:cNvPr id="186" name="Google Shape;186;p7"/>
          <p:cNvSpPr/>
          <p:nvPr/>
        </p:nvSpPr>
        <p:spPr>
          <a:xfrm>
            <a:off x="4233863" y="1395413"/>
            <a:ext cx="3724275" cy="4276725"/>
          </a:xfrm>
          <a:custGeom>
            <a:rect b="b" l="l" r="r" t="t"/>
            <a:pathLst>
              <a:path extrusionOk="0" h="4276725" w="372427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4200526"/>
                </a:lnTo>
                <a:cubicBezTo>
                  <a:pt x="3724275" y="4242610"/>
                  <a:pt x="3690160" y="4276725"/>
                  <a:pt x="3648076" y="4276725"/>
                </a:cubicBezTo>
                <a:lnTo>
                  <a:pt x="76199" y="4276725"/>
                </a:lnTo>
                <a:cubicBezTo>
                  <a:pt x="34115" y="4276725"/>
                  <a:pt x="0" y="4242610"/>
                  <a:pt x="0" y="42005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FF6467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6" scaled="0"/>
          </a:gradFill>
          <a:ln cap="flat" cmpd="sng" w="12700">
            <a:solidFill>
              <a:srgbClr val="FF646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352925" y="153352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467225" y="1647825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5009" y="103584"/>
                </a:moveTo>
                <a:lnTo>
                  <a:pt x="153591" y="103584"/>
                </a:lnTo>
                <a:cubicBezTo>
                  <a:pt x="159529" y="103584"/>
                  <a:pt x="164306" y="108362"/>
                  <a:pt x="164306" y="114300"/>
                </a:cubicBezTo>
                <a:cubicBezTo>
                  <a:pt x="164306" y="120238"/>
                  <a:pt x="159529" y="125016"/>
                  <a:pt x="153591" y="125016"/>
                </a:cubicBezTo>
                <a:lnTo>
                  <a:pt x="75009" y="125016"/>
                </a:lnTo>
                <a:cubicBezTo>
                  <a:pt x="69071" y="125016"/>
                  <a:pt x="64294" y="120238"/>
                  <a:pt x="64294" y="114300"/>
                </a:cubicBezTo>
                <a:cubicBezTo>
                  <a:pt x="64294" y="108362"/>
                  <a:pt x="69071" y="103584"/>
                  <a:pt x="75009" y="103584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924425" y="1514475"/>
            <a:ext cx="170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 2</a:t>
            </a:r>
            <a:endParaRPr b="0" i="0" sz="1600" u="none" cap="none" strike="noStrike"/>
          </a:p>
        </p:txBody>
      </p:sp>
      <p:sp>
        <p:nvSpPr>
          <p:cNvPr id="190" name="Google Shape;190;p7"/>
          <p:cNvSpPr/>
          <p:nvPr/>
        </p:nvSpPr>
        <p:spPr>
          <a:xfrm>
            <a:off x="4924425" y="1743075"/>
            <a:ext cx="1724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Competitor Penalty</a:t>
            </a:r>
            <a:endParaRPr b="0" i="0" sz="1600" u="none" cap="none" strike="noStrike"/>
          </a:p>
        </p:txBody>
      </p:sp>
      <p:sp>
        <p:nvSpPr>
          <p:cNvPr id="191" name="Google Shape;191;p7"/>
          <p:cNvSpPr/>
          <p:nvPr/>
        </p:nvSpPr>
        <p:spPr>
          <a:xfrm>
            <a:off x="4352925" y="2085975"/>
            <a:ext cx="3486150" cy="914400"/>
          </a:xfrm>
          <a:custGeom>
            <a:rect b="b" l="l" r="r" t="t"/>
            <a:pathLst>
              <a:path extrusionOk="0" h="914400" w="3486150">
                <a:moveTo>
                  <a:pt x="76197" y="0"/>
                </a:moveTo>
                <a:lnTo>
                  <a:pt x="3409953" y="0"/>
                </a:lnTo>
                <a:cubicBezTo>
                  <a:pt x="3452035" y="0"/>
                  <a:pt x="3486150" y="34115"/>
                  <a:pt x="3486150" y="76197"/>
                </a:cubicBezTo>
                <a:lnTo>
                  <a:pt x="3486150" y="838203"/>
                </a:lnTo>
                <a:cubicBezTo>
                  <a:pt x="3486150" y="880285"/>
                  <a:pt x="3452035" y="914400"/>
                  <a:pt x="34099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429125" y="2162175"/>
            <a:ext cx="341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Negative Score</a:t>
            </a:r>
            <a:endParaRPr b="0" i="0" sz="1600" u="none" cap="none" strike="noStrike"/>
          </a:p>
        </p:txBody>
      </p:sp>
      <p:sp>
        <p:nvSpPr>
          <p:cNvPr id="193" name="Google Shape;193;p7"/>
          <p:cNvSpPr/>
          <p:nvPr/>
        </p:nvSpPr>
        <p:spPr>
          <a:xfrm>
            <a:off x="4429125" y="2428875"/>
            <a:ext cx="3410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Filters by category to identify </a:t>
            </a: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direct competitors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within the POI radius.</a:t>
            </a:r>
            <a:endParaRPr b="0" i="0" sz="1600" u="none" cap="none" strike="noStrike"/>
          </a:p>
        </p:txBody>
      </p:sp>
      <p:sp>
        <p:nvSpPr>
          <p:cNvPr id="194" name="Google Shape;194;p7"/>
          <p:cNvSpPr/>
          <p:nvPr/>
        </p:nvSpPr>
        <p:spPr>
          <a:xfrm>
            <a:off x="4371975" y="31146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4619625" y="3076575"/>
            <a:ext cx="218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More competitors = lower score</a:t>
            </a:r>
            <a:endParaRPr b="0" i="0" sz="1600" u="none" cap="none" strike="noStrike"/>
          </a:p>
        </p:txBody>
      </p:sp>
      <p:sp>
        <p:nvSpPr>
          <p:cNvPr id="196" name="Google Shape;196;p7"/>
          <p:cNvSpPr/>
          <p:nvPr/>
        </p:nvSpPr>
        <p:spPr>
          <a:xfrm>
            <a:off x="4371975" y="340042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4619625" y="3362325"/>
            <a:ext cx="17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Category-specific filtering</a:t>
            </a:r>
            <a:endParaRPr b="0" i="0" sz="1600" u="none" cap="none" strike="noStrike"/>
          </a:p>
        </p:txBody>
      </p:sp>
      <p:sp>
        <p:nvSpPr>
          <p:cNvPr id="198" name="Google Shape;198;p7"/>
          <p:cNvSpPr/>
          <p:nvPr/>
        </p:nvSpPr>
        <p:spPr>
          <a:xfrm>
            <a:off x="4371975" y="36861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619625" y="3648075"/>
            <a:ext cx="2162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Prevents oversaturated markets</a:t>
            </a:r>
            <a:endParaRPr b="0" i="0" sz="1600" u="none" cap="none" strike="noStrike"/>
          </a:p>
        </p:txBody>
      </p:sp>
      <p:sp>
        <p:nvSpPr>
          <p:cNvPr id="200" name="Google Shape;200;p7"/>
          <p:cNvSpPr/>
          <p:nvPr/>
        </p:nvSpPr>
        <p:spPr>
          <a:xfrm>
            <a:off x="4352925" y="5205413"/>
            <a:ext cx="3486150" cy="9525"/>
          </a:xfrm>
          <a:custGeom>
            <a:rect b="b" l="l" r="r" t="t"/>
            <a:pathLst>
              <a:path extrusionOk="0" h="9525" w="3486150">
                <a:moveTo>
                  <a:pt x="0" y="0"/>
                </a:moveTo>
                <a:lnTo>
                  <a:pt x="3486150" y="0"/>
                </a:lnTo>
                <a:lnTo>
                  <a:pt x="3486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6467">
              <a:alpha val="30199"/>
            </a:srgbClr>
          </a:solidFill>
          <a:ln>
            <a:noFill/>
          </a:ln>
        </p:spPr>
      </p:sp>
      <p:sp>
        <p:nvSpPr>
          <p:cNvPr id="201" name="Google Shape;201;p7"/>
          <p:cNvSpPr/>
          <p:nvPr/>
        </p:nvSpPr>
        <p:spPr>
          <a:xfrm>
            <a:off x="4352925" y="5305425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</a:t>
            </a:r>
            <a:endParaRPr b="0" i="0" sz="1600" u="none" cap="none" strike="noStrike"/>
          </a:p>
        </p:txBody>
      </p:sp>
      <p:sp>
        <p:nvSpPr>
          <p:cNvPr id="202" name="Google Shape;202;p7"/>
          <p:cNvSpPr/>
          <p:nvPr/>
        </p:nvSpPr>
        <p:spPr>
          <a:xfrm>
            <a:off x="7237214" y="5286375"/>
            <a:ext cx="69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Penalty</a:t>
            </a:r>
            <a:endParaRPr b="0" i="0" sz="1600" u="none" cap="none" strike="noStrike"/>
          </a:p>
        </p:txBody>
      </p:sp>
      <p:sp>
        <p:nvSpPr>
          <p:cNvPr id="203" name="Google Shape;203;p7"/>
          <p:cNvSpPr/>
          <p:nvPr/>
        </p:nvSpPr>
        <p:spPr>
          <a:xfrm>
            <a:off x="8081962" y="1395413"/>
            <a:ext cx="3724275" cy="4276725"/>
          </a:xfrm>
          <a:custGeom>
            <a:rect b="b" l="l" r="r" t="t"/>
            <a:pathLst>
              <a:path extrusionOk="0" h="4276725" w="372427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4200526"/>
                </a:lnTo>
                <a:cubicBezTo>
                  <a:pt x="3724275" y="4242610"/>
                  <a:pt x="3690160" y="4276725"/>
                  <a:pt x="3648076" y="4276725"/>
                </a:cubicBezTo>
                <a:lnTo>
                  <a:pt x="76199" y="4276725"/>
                </a:lnTo>
                <a:cubicBezTo>
                  <a:pt x="34115" y="4276725"/>
                  <a:pt x="0" y="4242610"/>
                  <a:pt x="0" y="42005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51A2FF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6" scaled="0"/>
          </a:gradFill>
          <a:ln cap="flat" cmpd="sng" w="12700">
            <a:solidFill>
              <a:srgbClr val="51A2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8201025" y="153352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8315325" y="1647825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3584" y="153591"/>
                </a:moveTo>
                <a:lnTo>
                  <a:pt x="103584" y="125016"/>
                </a:lnTo>
                <a:lnTo>
                  <a:pt x="75009" y="125016"/>
                </a:lnTo>
                <a:cubicBezTo>
                  <a:pt x="69071" y="125016"/>
                  <a:pt x="64294" y="120238"/>
                  <a:pt x="64294" y="114300"/>
                </a:cubicBezTo>
                <a:cubicBezTo>
                  <a:pt x="64294" y="108362"/>
                  <a:pt x="69071" y="103584"/>
                  <a:pt x="75009" y="103584"/>
                </a:cubicBezTo>
                <a:lnTo>
                  <a:pt x="103584" y="103584"/>
                </a:lnTo>
                <a:lnTo>
                  <a:pt x="103584" y="75009"/>
                </a:lnTo>
                <a:cubicBezTo>
                  <a:pt x="103584" y="69071"/>
                  <a:pt x="108362" y="64294"/>
                  <a:pt x="114300" y="64294"/>
                </a:cubicBezTo>
                <a:cubicBezTo>
                  <a:pt x="120238" y="64294"/>
                  <a:pt x="125016" y="69071"/>
                  <a:pt x="125016" y="75009"/>
                </a:cubicBezTo>
                <a:lnTo>
                  <a:pt x="125016" y="103584"/>
                </a:lnTo>
                <a:lnTo>
                  <a:pt x="153591" y="103584"/>
                </a:lnTo>
                <a:cubicBezTo>
                  <a:pt x="159529" y="103584"/>
                  <a:pt x="164306" y="108362"/>
                  <a:pt x="164306" y="114300"/>
                </a:cubicBezTo>
                <a:cubicBezTo>
                  <a:pt x="164306" y="120238"/>
                  <a:pt x="159529" y="125016"/>
                  <a:pt x="153591" y="125016"/>
                </a:cubicBezTo>
                <a:lnTo>
                  <a:pt x="125016" y="125016"/>
                </a:lnTo>
                <a:lnTo>
                  <a:pt x="125016" y="153591"/>
                </a:lnTo>
                <a:cubicBezTo>
                  <a:pt x="125016" y="159529"/>
                  <a:pt x="120238" y="164306"/>
                  <a:pt x="114300" y="164306"/>
                </a:cubicBezTo>
                <a:cubicBezTo>
                  <a:pt x="108362" y="164306"/>
                  <a:pt x="103584" y="159529"/>
                  <a:pt x="103584" y="153591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8772525" y="1514475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1A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 3</a:t>
            </a:r>
            <a:endParaRPr b="0" i="0" sz="1600" u="none" cap="none" strike="noStrike"/>
          </a:p>
        </p:txBody>
      </p:sp>
      <p:sp>
        <p:nvSpPr>
          <p:cNvPr id="207" name="Google Shape;207;p7"/>
          <p:cNvSpPr/>
          <p:nvPr/>
        </p:nvSpPr>
        <p:spPr>
          <a:xfrm>
            <a:off x="8772525" y="1743075"/>
            <a:ext cx="1352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Synergy Bonus</a:t>
            </a:r>
            <a:endParaRPr b="0" i="0" sz="1600" u="none" cap="none" strike="noStrike"/>
          </a:p>
        </p:txBody>
      </p:sp>
      <p:sp>
        <p:nvSpPr>
          <p:cNvPr id="208" name="Google Shape;208;p7"/>
          <p:cNvSpPr/>
          <p:nvPr/>
        </p:nvSpPr>
        <p:spPr>
          <a:xfrm>
            <a:off x="8201025" y="2085975"/>
            <a:ext cx="3486150" cy="914400"/>
          </a:xfrm>
          <a:custGeom>
            <a:rect b="b" l="l" r="r" t="t"/>
            <a:pathLst>
              <a:path extrusionOk="0" h="914400" w="3486150">
                <a:moveTo>
                  <a:pt x="76197" y="0"/>
                </a:moveTo>
                <a:lnTo>
                  <a:pt x="3409953" y="0"/>
                </a:lnTo>
                <a:cubicBezTo>
                  <a:pt x="3452035" y="0"/>
                  <a:pt x="3486150" y="34115"/>
                  <a:pt x="3486150" y="76197"/>
                </a:cubicBezTo>
                <a:lnTo>
                  <a:pt x="3486150" y="838203"/>
                </a:lnTo>
                <a:cubicBezTo>
                  <a:pt x="3486150" y="880285"/>
                  <a:pt x="3452035" y="914400"/>
                  <a:pt x="34099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8277225" y="2162175"/>
            <a:ext cx="341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1A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Positive Score</a:t>
            </a:r>
            <a:endParaRPr b="0" i="0" sz="1600" u="none" cap="none" strike="noStrike"/>
          </a:p>
        </p:txBody>
      </p:sp>
      <p:sp>
        <p:nvSpPr>
          <p:cNvPr id="210" name="Google Shape;210;p7"/>
          <p:cNvSpPr/>
          <p:nvPr/>
        </p:nvSpPr>
        <p:spPr>
          <a:xfrm>
            <a:off x="8277225" y="2428875"/>
            <a:ext cx="3410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Identifies </a:t>
            </a: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constructive businesses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nearby that drive complementary foot traffic.</a:t>
            </a:r>
            <a:endParaRPr b="0" i="0" sz="1600" u="none" cap="none" strike="noStrike"/>
          </a:p>
        </p:txBody>
      </p:sp>
      <p:sp>
        <p:nvSpPr>
          <p:cNvPr id="211" name="Google Shape;211;p7"/>
          <p:cNvSpPr/>
          <p:nvPr/>
        </p:nvSpPr>
        <p:spPr>
          <a:xfrm>
            <a:off x="8220075" y="31146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8467725" y="3076575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Restaurant + Theme Park = Win</a:t>
            </a:r>
            <a:endParaRPr b="0" i="0" sz="1600" u="none" cap="none" strike="noStrike"/>
          </a:p>
        </p:txBody>
      </p:sp>
      <p:sp>
        <p:nvSpPr>
          <p:cNvPr id="213" name="Google Shape;213;p7"/>
          <p:cNvSpPr/>
          <p:nvPr/>
        </p:nvSpPr>
        <p:spPr>
          <a:xfrm>
            <a:off x="8220075" y="340042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8467725" y="3362325"/>
            <a:ext cx="19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Coffee Shop + Office Building</a:t>
            </a:r>
            <a:endParaRPr b="0" i="0" sz="1600" u="none" cap="none" strike="noStrike"/>
          </a:p>
        </p:txBody>
      </p:sp>
      <p:sp>
        <p:nvSpPr>
          <p:cNvPr id="215" name="Google Shape;215;p7"/>
          <p:cNvSpPr/>
          <p:nvPr/>
        </p:nvSpPr>
        <p:spPr>
          <a:xfrm>
            <a:off x="8220075" y="36861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8467725" y="3648075"/>
            <a:ext cx="271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Working with the market not against it</a:t>
            </a:r>
            <a:endParaRPr b="0" i="0" sz="1600" u="none" cap="none" strike="noStrike"/>
          </a:p>
        </p:txBody>
      </p:sp>
      <p:sp>
        <p:nvSpPr>
          <p:cNvPr id="217" name="Google Shape;217;p7"/>
          <p:cNvSpPr/>
          <p:nvPr/>
        </p:nvSpPr>
        <p:spPr>
          <a:xfrm>
            <a:off x="8201025" y="5205413"/>
            <a:ext cx="3486150" cy="9525"/>
          </a:xfrm>
          <a:custGeom>
            <a:rect b="b" l="l" r="r" t="t"/>
            <a:pathLst>
              <a:path extrusionOk="0" h="9525" w="3486150">
                <a:moveTo>
                  <a:pt x="0" y="0"/>
                </a:moveTo>
                <a:lnTo>
                  <a:pt x="3486150" y="0"/>
                </a:lnTo>
                <a:lnTo>
                  <a:pt x="3486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1A2FF">
              <a:alpha val="30199"/>
            </a:srgbClr>
          </a:solidFill>
          <a:ln>
            <a:noFill/>
          </a:ln>
        </p:spPr>
      </p:sp>
      <p:sp>
        <p:nvSpPr>
          <p:cNvPr id="218" name="Google Shape;218;p7"/>
          <p:cNvSpPr/>
          <p:nvPr/>
        </p:nvSpPr>
        <p:spPr>
          <a:xfrm>
            <a:off x="8201025" y="5305425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</a:t>
            </a:r>
            <a:endParaRPr b="0" i="0" sz="1600" u="none" cap="none" strike="noStrike"/>
          </a:p>
        </p:txBody>
      </p:sp>
      <p:sp>
        <p:nvSpPr>
          <p:cNvPr id="219" name="Google Shape;219;p7"/>
          <p:cNvSpPr/>
          <p:nvPr/>
        </p:nvSpPr>
        <p:spPr>
          <a:xfrm>
            <a:off x="11182350" y="5286375"/>
            <a:ext cx="60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1A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Bonus</a:t>
            </a:r>
            <a:endParaRPr b="0" i="0" sz="1600" u="none" cap="none" strike="noStrike"/>
          </a:p>
        </p:txBody>
      </p:sp>
      <p:sp>
        <p:nvSpPr>
          <p:cNvPr id="220" name="Google Shape;220;p7"/>
          <p:cNvSpPr/>
          <p:nvPr/>
        </p:nvSpPr>
        <p:spPr>
          <a:xfrm>
            <a:off x="385763" y="5757863"/>
            <a:ext cx="11420475" cy="714375"/>
          </a:xfrm>
          <a:custGeom>
            <a:rect b="b" l="l" r="r" t="t"/>
            <a:pathLst>
              <a:path extrusionOk="0" h="714375" w="11420475">
                <a:moveTo>
                  <a:pt x="76202" y="0"/>
                </a:moveTo>
                <a:lnTo>
                  <a:pt x="11344273" y="0"/>
                </a:lnTo>
                <a:cubicBezTo>
                  <a:pt x="11386358" y="0"/>
                  <a:pt x="11420475" y="34117"/>
                  <a:pt x="11420475" y="76202"/>
                </a:cubicBezTo>
                <a:lnTo>
                  <a:pt x="11420475" y="638173"/>
                </a:lnTo>
                <a:cubicBezTo>
                  <a:pt x="11420475" y="680258"/>
                  <a:pt x="11386358" y="714375"/>
                  <a:pt x="11344273" y="714375"/>
                </a:cubicBezTo>
                <a:lnTo>
                  <a:pt x="76202" y="714375"/>
                </a:lnTo>
                <a:cubicBezTo>
                  <a:pt x="34117" y="714375"/>
                  <a:pt x="0" y="680258"/>
                  <a:pt x="0" y="6381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30196"/>
                </a:srgbClr>
              </a:gs>
              <a:gs pos="50000">
                <a:srgbClr val="4A5C6A">
                  <a:alpha val="20000"/>
                </a:srgbClr>
              </a:gs>
              <a:gs pos="100000">
                <a:srgbClr val="3DCC91">
                  <a:alpha val="30196"/>
                </a:srgbClr>
              </a:gs>
            </a:gsLst>
            <a:lin ang="0" scaled="0"/>
          </a:gradFill>
          <a:ln cap="flat" cmpd="sng" w="12700">
            <a:solidFill>
              <a:srgbClr val="3DCC91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540544" y="5972175"/>
            <a:ext cx="214313" cy="285750"/>
          </a:xfrm>
          <a:custGeom>
            <a:rect b="b" l="l" r="r" t="t"/>
            <a:pathLst>
              <a:path extrusionOk="0" h="285750" w="214313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178594" y="285750"/>
                </a:lnTo>
                <a:cubicBezTo>
                  <a:pt x="198295" y="285750"/>
                  <a:pt x="214313" y="269732"/>
                  <a:pt x="214313" y="250031"/>
                </a:cubicBezTo>
                <a:lnTo>
                  <a:pt x="214313" y="35719"/>
                </a:lnTo>
                <a:cubicBezTo>
                  <a:pt x="214313" y="16018"/>
                  <a:pt x="198295" y="0"/>
                  <a:pt x="178594" y="0"/>
                </a:cubicBezTo>
                <a:lnTo>
                  <a:pt x="35719" y="0"/>
                </a:lnTo>
                <a:close/>
                <a:moveTo>
                  <a:pt x="53578" y="35719"/>
                </a:moveTo>
                <a:lnTo>
                  <a:pt x="160734" y="35719"/>
                </a:lnTo>
                <a:cubicBezTo>
                  <a:pt x="170613" y="35719"/>
                  <a:pt x="178594" y="43700"/>
                  <a:pt x="178594" y="53578"/>
                </a:cubicBezTo>
                <a:lnTo>
                  <a:pt x="178594" y="71438"/>
                </a:lnTo>
                <a:cubicBezTo>
                  <a:pt x="178594" y="81316"/>
                  <a:pt x="170613" y="89297"/>
                  <a:pt x="160734" y="89297"/>
                </a:cubicBezTo>
                <a:lnTo>
                  <a:pt x="53578" y="89297"/>
                </a:lnTo>
                <a:cubicBezTo>
                  <a:pt x="43700" y="89297"/>
                  <a:pt x="35719" y="81316"/>
                  <a:pt x="35719" y="71438"/>
                </a:cubicBezTo>
                <a:lnTo>
                  <a:pt x="35719" y="53578"/>
                </a:lnTo>
                <a:cubicBezTo>
                  <a:pt x="35719" y="43700"/>
                  <a:pt x="43700" y="35719"/>
                  <a:pt x="53578" y="35719"/>
                </a:cubicBezTo>
                <a:close/>
                <a:moveTo>
                  <a:pt x="62508" y="129480"/>
                </a:moveTo>
                <a:cubicBezTo>
                  <a:pt x="62508" y="136873"/>
                  <a:pt x="56506" y="142875"/>
                  <a:pt x="49113" y="142875"/>
                </a:cubicBezTo>
                <a:cubicBezTo>
                  <a:pt x="41721" y="142875"/>
                  <a:pt x="35719" y="136873"/>
                  <a:pt x="35719" y="129480"/>
                </a:cubicBezTo>
                <a:cubicBezTo>
                  <a:pt x="35719" y="122088"/>
                  <a:pt x="41721" y="116086"/>
                  <a:pt x="49113" y="116086"/>
                </a:cubicBezTo>
                <a:cubicBezTo>
                  <a:pt x="56506" y="116086"/>
                  <a:pt x="62508" y="122088"/>
                  <a:pt x="62508" y="129480"/>
                </a:cubicBezTo>
                <a:close/>
                <a:moveTo>
                  <a:pt x="107156" y="142875"/>
                </a:moveTo>
                <a:cubicBezTo>
                  <a:pt x="99764" y="142875"/>
                  <a:pt x="93762" y="136873"/>
                  <a:pt x="93762" y="129480"/>
                </a:cubicBezTo>
                <a:cubicBezTo>
                  <a:pt x="93762" y="122088"/>
                  <a:pt x="99764" y="116086"/>
                  <a:pt x="107156" y="116086"/>
                </a:cubicBezTo>
                <a:cubicBezTo>
                  <a:pt x="114549" y="116086"/>
                  <a:pt x="120551" y="122088"/>
                  <a:pt x="120551" y="129480"/>
                </a:cubicBezTo>
                <a:cubicBezTo>
                  <a:pt x="120551" y="136873"/>
                  <a:pt x="114549" y="142875"/>
                  <a:pt x="107156" y="142875"/>
                </a:cubicBezTo>
                <a:close/>
                <a:moveTo>
                  <a:pt x="178594" y="129480"/>
                </a:moveTo>
                <a:cubicBezTo>
                  <a:pt x="178594" y="136873"/>
                  <a:pt x="172592" y="142875"/>
                  <a:pt x="165199" y="142875"/>
                </a:cubicBezTo>
                <a:cubicBezTo>
                  <a:pt x="157807" y="142875"/>
                  <a:pt x="151805" y="136873"/>
                  <a:pt x="151805" y="129480"/>
                </a:cubicBezTo>
                <a:cubicBezTo>
                  <a:pt x="151805" y="122088"/>
                  <a:pt x="157807" y="116086"/>
                  <a:pt x="165199" y="116086"/>
                </a:cubicBezTo>
                <a:cubicBezTo>
                  <a:pt x="172592" y="116086"/>
                  <a:pt x="178594" y="122088"/>
                  <a:pt x="178594" y="129480"/>
                </a:cubicBezTo>
                <a:close/>
                <a:moveTo>
                  <a:pt x="49113" y="196453"/>
                </a:moveTo>
                <a:cubicBezTo>
                  <a:pt x="41721" y="196453"/>
                  <a:pt x="35719" y="190451"/>
                  <a:pt x="35719" y="183059"/>
                </a:cubicBezTo>
                <a:cubicBezTo>
                  <a:pt x="35719" y="175666"/>
                  <a:pt x="41721" y="169664"/>
                  <a:pt x="49113" y="169664"/>
                </a:cubicBezTo>
                <a:cubicBezTo>
                  <a:pt x="56506" y="169664"/>
                  <a:pt x="62508" y="175666"/>
                  <a:pt x="62508" y="183059"/>
                </a:cubicBezTo>
                <a:cubicBezTo>
                  <a:pt x="62508" y="190451"/>
                  <a:pt x="56506" y="196453"/>
                  <a:pt x="49113" y="196453"/>
                </a:cubicBezTo>
                <a:close/>
                <a:moveTo>
                  <a:pt x="120551" y="183059"/>
                </a:moveTo>
                <a:cubicBezTo>
                  <a:pt x="120551" y="190451"/>
                  <a:pt x="114549" y="196453"/>
                  <a:pt x="107156" y="196453"/>
                </a:cubicBezTo>
                <a:cubicBezTo>
                  <a:pt x="99764" y="196453"/>
                  <a:pt x="93762" y="190451"/>
                  <a:pt x="93762" y="183059"/>
                </a:cubicBezTo>
                <a:cubicBezTo>
                  <a:pt x="93762" y="175666"/>
                  <a:pt x="99764" y="169664"/>
                  <a:pt x="107156" y="169664"/>
                </a:cubicBezTo>
                <a:cubicBezTo>
                  <a:pt x="114549" y="169664"/>
                  <a:pt x="120551" y="175666"/>
                  <a:pt x="120551" y="183059"/>
                </a:cubicBezTo>
                <a:close/>
                <a:moveTo>
                  <a:pt x="165199" y="196453"/>
                </a:moveTo>
                <a:cubicBezTo>
                  <a:pt x="157807" y="196453"/>
                  <a:pt x="151805" y="190451"/>
                  <a:pt x="151805" y="183059"/>
                </a:cubicBezTo>
                <a:cubicBezTo>
                  <a:pt x="151805" y="175666"/>
                  <a:pt x="157807" y="169664"/>
                  <a:pt x="165199" y="169664"/>
                </a:cubicBezTo>
                <a:cubicBezTo>
                  <a:pt x="172592" y="169664"/>
                  <a:pt x="178594" y="175666"/>
                  <a:pt x="178594" y="183059"/>
                </a:cubicBezTo>
                <a:cubicBezTo>
                  <a:pt x="178594" y="190451"/>
                  <a:pt x="172592" y="196453"/>
                  <a:pt x="165199" y="196453"/>
                </a:cubicBezTo>
                <a:close/>
                <a:moveTo>
                  <a:pt x="35719" y="236637"/>
                </a:moveTo>
                <a:cubicBezTo>
                  <a:pt x="35719" y="229214"/>
                  <a:pt x="41690" y="223242"/>
                  <a:pt x="49113" y="223242"/>
                </a:cubicBezTo>
                <a:lnTo>
                  <a:pt x="111621" y="223242"/>
                </a:lnTo>
                <a:cubicBezTo>
                  <a:pt x="119044" y="223242"/>
                  <a:pt x="125016" y="229214"/>
                  <a:pt x="125016" y="236637"/>
                </a:cubicBezTo>
                <a:cubicBezTo>
                  <a:pt x="125016" y="244060"/>
                  <a:pt x="119044" y="250031"/>
                  <a:pt x="111621" y="250031"/>
                </a:cubicBezTo>
                <a:lnTo>
                  <a:pt x="49113" y="250031"/>
                </a:lnTo>
                <a:cubicBezTo>
                  <a:pt x="41690" y="250031"/>
                  <a:pt x="35719" y="244060"/>
                  <a:pt x="35719" y="236637"/>
                </a:cubicBezTo>
                <a:close/>
                <a:moveTo>
                  <a:pt x="165199" y="223242"/>
                </a:moveTo>
                <a:cubicBezTo>
                  <a:pt x="172622" y="223242"/>
                  <a:pt x="178594" y="229214"/>
                  <a:pt x="178594" y="236637"/>
                </a:cubicBezTo>
                <a:cubicBezTo>
                  <a:pt x="178594" y="244060"/>
                  <a:pt x="172622" y="250031"/>
                  <a:pt x="165199" y="250031"/>
                </a:cubicBezTo>
                <a:cubicBezTo>
                  <a:pt x="157776" y="250031"/>
                  <a:pt x="151805" y="244060"/>
                  <a:pt x="151805" y="236637"/>
                </a:cubicBezTo>
                <a:cubicBezTo>
                  <a:pt x="151805" y="229214"/>
                  <a:pt x="157776" y="223242"/>
                  <a:pt x="165199" y="223242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976312" y="5857875"/>
            <a:ext cx="469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 Calculation</a:t>
            </a:r>
            <a:endParaRPr b="0" i="0" sz="1600" u="none" cap="none" strike="noStrike"/>
          </a:p>
        </p:txBody>
      </p:sp>
      <p:sp>
        <p:nvSpPr>
          <p:cNvPr id="223" name="Google Shape;223;p7"/>
          <p:cNvSpPr/>
          <p:nvPr/>
        </p:nvSpPr>
        <p:spPr>
          <a:xfrm>
            <a:off x="976312" y="6105525"/>
            <a:ext cx="4714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Aggregate Score = Hub Density - Competitors + Synergy</a:t>
            </a:r>
            <a:endParaRPr b="0" i="0" sz="1600" u="none" cap="none" strike="noStrike"/>
          </a:p>
        </p:txBody>
      </p:sp>
      <p:sp>
        <p:nvSpPr>
          <p:cNvPr id="224" name="Google Shape;224;p7"/>
          <p:cNvSpPr/>
          <p:nvPr/>
        </p:nvSpPr>
        <p:spPr>
          <a:xfrm>
            <a:off x="9700692" y="5838825"/>
            <a:ext cx="202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</a:t>
            </a:r>
            <a:endParaRPr b="0" i="0" sz="1600" u="none" cap="none" strike="noStrike"/>
          </a:p>
        </p:txBody>
      </p:sp>
      <p:sp>
        <p:nvSpPr>
          <p:cNvPr id="225" name="Google Shape;225;p7"/>
          <p:cNvSpPr/>
          <p:nvPr/>
        </p:nvSpPr>
        <p:spPr>
          <a:xfrm>
            <a:off x="9662592" y="6086475"/>
            <a:ext cx="206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Highest Score Wins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/>
          <p:nvPr/>
        </p:nvSpPr>
        <p:spPr>
          <a:xfrm>
            <a:off x="381000" y="466725"/>
            <a:ext cx="76200" cy="457200"/>
          </a:xfrm>
          <a:custGeom>
            <a:rect b="b" l="l" r="r" t="t"/>
            <a:pathLst>
              <a:path extrusionOk="0" h="457200" w="76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232" name="Google Shape;232;p8"/>
          <p:cNvSpPr/>
          <p:nvPr/>
        </p:nvSpPr>
        <p:spPr>
          <a:xfrm>
            <a:off x="571500" y="381000"/>
            <a:ext cx="598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CUSTOMISED IMPLEMENTATION</a:t>
            </a:r>
            <a:endParaRPr b="0" i="0" sz="1600" u="none" cap="none" strike="noStrike"/>
          </a:p>
        </p:txBody>
      </p:sp>
      <p:sp>
        <p:nvSpPr>
          <p:cNvPr id="233" name="Google Shape;233;p8"/>
          <p:cNvSpPr/>
          <p:nvPr/>
        </p:nvSpPr>
        <p:spPr>
          <a:xfrm>
            <a:off x="571500" y="628650"/>
            <a:ext cx="60769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Do It Your Way</a:t>
            </a:r>
            <a:endParaRPr b="0" i="0" sz="1600" u="none" cap="none" strike="noStrike"/>
          </a:p>
        </p:txBody>
      </p:sp>
      <p:sp>
        <p:nvSpPr>
          <p:cNvPr id="234" name="Google Shape;234;p8"/>
          <p:cNvSpPr/>
          <p:nvPr/>
        </p:nvSpPr>
        <p:spPr>
          <a:xfrm>
            <a:off x="571500" y="1047750"/>
            <a:ext cx="11325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Personalised </a:t>
            </a:r>
            <a:r>
              <a:rPr lang="en-US" sz="135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stratagem</a:t>
            </a:r>
            <a:endParaRPr b="0" i="0" sz="1600" u="none" cap="none" strike="noStrike"/>
          </a:p>
        </p:txBody>
      </p:sp>
      <p:sp>
        <p:nvSpPr>
          <p:cNvPr id="235" name="Google Shape;235;p8"/>
          <p:cNvSpPr/>
          <p:nvPr/>
        </p:nvSpPr>
        <p:spPr>
          <a:xfrm>
            <a:off x="385800" y="2390774"/>
            <a:ext cx="3724275" cy="4052197"/>
          </a:xfrm>
          <a:custGeom>
            <a:rect b="b" l="l" r="r" t="t"/>
            <a:pathLst>
              <a:path extrusionOk="0" h="4276725" w="372427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4200526"/>
                </a:lnTo>
                <a:cubicBezTo>
                  <a:pt x="3724275" y="4242610"/>
                  <a:pt x="3690160" y="4276725"/>
                  <a:pt x="3648076" y="4276725"/>
                </a:cubicBezTo>
                <a:lnTo>
                  <a:pt x="76199" y="4276725"/>
                </a:lnTo>
                <a:cubicBezTo>
                  <a:pt x="34115" y="4276725"/>
                  <a:pt x="0" y="4242610"/>
                  <a:pt x="0" y="42005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3DCC9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504850" y="25288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1076350" y="2509825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</a:t>
            </a:r>
            <a:endParaRPr b="0" i="0" sz="1600" u="none" cap="none" strike="noStrike"/>
          </a:p>
        </p:txBody>
      </p:sp>
      <p:sp>
        <p:nvSpPr>
          <p:cNvPr id="238" name="Google Shape;238;p8"/>
          <p:cNvSpPr/>
          <p:nvPr/>
        </p:nvSpPr>
        <p:spPr>
          <a:xfrm>
            <a:off x="1076350" y="2738425"/>
            <a:ext cx="1771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Opportunity Mode</a:t>
            </a:r>
            <a:endParaRPr b="0" i="0" sz="1600" u="none" cap="none" strike="noStrike"/>
          </a:p>
        </p:txBody>
      </p:sp>
      <p:sp>
        <p:nvSpPr>
          <p:cNvPr id="239" name="Google Shape;239;p8"/>
          <p:cNvSpPr/>
          <p:nvPr/>
        </p:nvSpPr>
        <p:spPr>
          <a:xfrm>
            <a:off x="504850" y="3081325"/>
            <a:ext cx="3486150" cy="914400"/>
          </a:xfrm>
          <a:custGeom>
            <a:rect b="b" l="l" r="r" t="t"/>
            <a:pathLst>
              <a:path extrusionOk="0" h="914400" w="3486150">
                <a:moveTo>
                  <a:pt x="76197" y="0"/>
                </a:moveTo>
                <a:lnTo>
                  <a:pt x="3409953" y="0"/>
                </a:lnTo>
                <a:cubicBezTo>
                  <a:pt x="3452035" y="0"/>
                  <a:pt x="3486150" y="34115"/>
                  <a:pt x="3486150" y="76197"/>
                </a:cubicBezTo>
                <a:lnTo>
                  <a:pt x="3486150" y="838203"/>
                </a:lnTo>
                <a:cubicBezTo>
                  <a:pt x="3486150" y="880285"/>
                  <a:pt x="3452035" y="914400"/>
                  <a:pt x="34099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581050" y="3157525"/>
            <a:ext cx="341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Competitor Penalty</a:t>
            </a:r>
            <a:endParaRPr b="0" i="0" sz="1600" u="none" cap="none" strike="noStrike"/>
          </a:p>
        </p:txBody>
      </p:sp>
      <p:sp>
        <p:nvSpPr>
          <p:cNvPr id="241" name="Google Shape;241;p8"/>
          <p:cNvSpPr/>
          <p:nvPr/>
        </p:nvSpPr>
        <p:spPr>
          <a:xfrm>
            <a:off x="581050" y="3424225"/>
            <a:ext cx="3410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small start-ups aiming to carve out a niche in uncontested or low-competition markets.</a:t>
            </a:r>
            <a:endParaRPr b="0" i="0" sz="1600" u="none" cap="none" strike="noStrike"/>
          </a:p>
        </p:txBody>
      </p:sp>
      <p:sp>
        <p:nvSpPr>
          <p:cNvPr id="242" name="Google Shape;242;p8"/>
          <p:cNvSpPr/>
          <p:nvPr/>
        </p:nvSpPr>
        <p:spPr>
          <a:xfrm>
            <a:off x="523900" y="411002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771550" y="4071925"/>
            <a:ext cx="21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Prioritises gaps in the market</a:t>
            </a:r>
            <a:endParaRPr b="0" i="0" sz="1600" u="none" cap="none" strike="noStrike"/>
          </a:p>
        </p:txBody>
      </p:sp>
      <p:sp>
        <p:nvSpPr>
          <p:cNvPr id="244" name="Google Shape;244;p8"/>
          <p:cNvSpPr/>
          <p:nvPr/>
        </p:nvSpPr>
        <p:spPr>
          <a:xfrm>
            <a:off x="523900" y="43957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771550" y="4357675"/>
            <a:ext cx="22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Strongly avoids saturated areas</a:t>
            </a:r>
            <a:endParaRPr b="0" i="0" sz="1600" u="none" cap="none" strike="noStrike"/>
          </a:p>
        </p:txBody>
      </p:sp>
      <p:sp>
        <p:nvSpPr>
          <p:cNvPr id="246" name="Google Shape;246;p8"/>
          <p:cNvSpPr/>
          <p:nvPr/>
        </p:nvSpPr>
        <p:spPr>
          <a:xfrm>
            <a:off x="523900" y="468152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771550" y="4643425"/>
            <a:ext cx="308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Ideal for early-stage growth and differentiation</a:t>
            </a:r>
            <a:endParaRPr b="0" i="0" sz="1600" u="none" cap="none" strike="noStrike"/>
          </a:p>
        </p:txBody>
      </p:sp>
      <p:sp>
        <p:nvSpPr>
          <p:cNvPr id="248" name="Google Shape;248;p8"/>
          <p:cNvSpPr/>
          <p:nvPr/>
        </p:nvSpPr>
        <p:spPr>
          <a:xfrm>
            <a:off x="504850" y="5024426"/>
            <a:ext cx="3486150" cy="9525"/>
          </a:xfrm>
          <a:custGeom>
            <a:rect b="b" l="l" r="r" t="t"/>
            <a:pathLst>
              <a:path extrusionOk="0" h="9525" w="3486150">
                <a:moveTo>
                  <a:pt x="0" y="0"/>
                </a:moveTo>
                <a:lnTo>
                  <a:pt x="3486150" y="0"/>
                </a:lnTo>
                <a:lnTo>
                  <a:pt x="3486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DCC91">
              <a:alpha val="30196"/>
            </a:srgbClr>
          </a:solidFill>
          <a:ln>
            <a:noFill/>
          </a:ln>
        </p:spPr>
      </p:sp>
      <p:sp>
        <p:nvSpPr>
          <p:cNvPr id="249" name="Google Shape;249;p8"/>
          <p:cNvSpPr/>
          <p:nvPr/>
        </p:nvSpPr>
        <p:spPr>
          <a:xfrm>
            <a:off x="504850" y="6300775"/>
            <a:ext cx="5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250" name="Google Shape;250;p8"/>
          <p:cNvSpPr/>
          <p:nvPr/>
        </p:nvSpPr>
        <p:spPr>
          <a:xfrm>
            <a:off x="4247250" y="1628763"/>
            <a:ext cx="3724275" cy="4276725"/>
          </a:xfrm>
          <a:custGeom>
            <a:rect b="b" l="l" r="r" t="t"/>
            <a:pathLst>
              <a:path extrusionOk="0" h="4276725" w="372427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4200526"/>
                </a:lnTo>
                <a:cubicBezTo>
                  <a:pt x="3724275" y="4242610"/>
                  <a:pt x="3690160" y="4276725"/>
                  <a:pt x="3648076" y="4276725"/>
                </a:cubicBezTo>
                <a:lnTo>
                  <a:pt x="76199" y="4276725"/>
                </a:lnTo>
                <a:cubicBezTo>
                  <a:pt x="34115" y="4276725"/>
                  <a:pt x="0" y="4242610"/>
                  <a:pt x="0" y="42005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51A2FF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51A2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366313" y="17668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4937813" y="1747825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1A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 2</a:t>
            </a:r>
            <a:endParaRPr b="0" i="0" sz="1600" u="none" cap="none" strike="noStrike"/>
          </a:p>
        </p:txBody>
      </p:sp>
      <p:sp>
        <p:nvSpPr>
          <p:cNvPr id="253" name="Google Shape;253;p8"/>
          <p:cNvSpPr/>
          <p:nvPr/>
        </p:nvSpPr>
        <p:spPr>
          <a:xfrm>
            <a:off x="4937813" y="1976425"/>
            <a:ext cx="1352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Smart Mode</a:t>
            </a:r>
            <a:endParaRPr b="0" i="0" sz="1600" u="none" cap="none" strike="noStrike"/>
          </a:p>
        </p:txBody>
      </p:sp>
      <p:sp>
        <p:nvSpPr>
          <p:cNvPr id="254" name="Google Shape;254;p8"/>
          <p:cNvSpPr/>
          <p:nvPr/>
        </p:nvSpPr>
        <p:spPr>
          <a:xfrm>
            <a:off x="4366313" y="2319325"/>
            <a:ext cx="3486150" cy="914400"/>
          </a:xfrm>
          <a:custGeom>
            <a:rect b="b" l="l" r="r" t="t"/>
            <a:pathLst>
              <a:path extrusionOk="0" h="914400" w="3486150">
                <a:moveTo>
                  <a:pt x="76197" y="0"/>
                </a:moveTo>
                <a:lnTo>
                  <a:pt x="3409953" y="0"/>
                </a:lnTo>
                <a:cubicBezTo>
                  <a:pt x="3452035" y="0"/>
                  <a:pt x="3486150" y="34115"/>
                  <a:pt x="3486150" y="76197"/>
                </a:cubicBezTo>
                <a:lnTo>
                  <a:pt x="3486150" y="838203"/>
                </a:lnTo>
                <a:cubicBezTo>
                  <a:pt x="3486150" y="880285"/>
                  <a:pt x="3452035" y="914400"/>
                  <a:pt x="34099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4442513" y="2395525"/>
            <a:ext cx="341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1A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Balanced Penalty &amp; Synergy</a:t>
            </a:r>
            <a:endParaRPr b="0" i="0" sz="1600" u="none" cap="none" strike="noStrike"/>
          </a:p>
        </p:txBody>
      </p:sp>
      <p:sp>
        <p:nvSpPr>
          <p:cNvPr id="256" name="Google Shape;256;p8"/>
          <p:cNvSpPr/>
          <p:nvPr/>
        </p:nvSpPr>
        <p:spPr>
          <a:xfrm>
            <a:off x="4442513" y="2662225"/>
            <a:ext cx="3410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established businesses or franchises seeking a balance between competition and exposure.</a:t>
            </a:r>
            <a:endParaRPr b="0" i="0" sz="1600" u="none" cap="none" strike="noStrike"/>
          </a:p>
        </p:txBody>
      </p:sp>
      <p:sp>
        <p:nvSpPr>
          <p:cNvPr id="257" name="Google Shape;257;p8"/>
          <p:cNvSpPr/>
          <p:nvPr/>
        </p:nvSpPr>
        <p:spPr>
          <a:xfrm>
            <a:off x="4385363" y="334802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4633013" y="3309925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Restaurant + Theme Park = Win</a:t>
            </a:r>
            <a:endParaRPr b="0" i="0" sz="1600" u="none" cap="none" strike="noStrike"/>
          </a:p>
        </p:txBody>
      </p:sp>
      <p:sp>
        <p:nvSpPr>
          <p:cNvPr id="259" name="Google Shape;259;p8"/>
          <p:cNvSpPr/>
          <p:nvPr/>
        </p:nvSpPr>
        <p:spPr>
          <a:xfrm>
            <a:off x="4385363" y="36337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4633013" y="3595675"/>
            <a:ext cx="19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Coffee Shop + Office Building</a:t>
            </a:r>
            <a:endParaRPr b="0" i="0" sz="1600" u="none" cap="none" strike="noStrike"/>
          </a:p>
        </p:txBody>
      </p:sp>
      <p:sp>
        <p:nvSpPr>
          <p:cNvPr id="261" name="Google Shape;261;p8"/>
          <p:cNvSpPr/>
          <p:nvPr/>
        </p:nvSpPr>
        <p:spPr>
          <a:xfrm>
            <a:off x="4385363" y="391952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4633013" y="3881425"/>
            <a:ext cx="271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Working with the market not against it</a:t>
            </a:r>
            <a:endParaRPr b="0" i="0" sz="1600" u="none" cap="none" strike="noStrike"/>
          </a:p>
        </p:txBody>
      </p:sp>
      <p:sp>
        <p:nvSpPr>
          <p:cNvPr id="263" name="Google Shape;263;p8"/>
          <p:cNvSpPr/>
          <p:nvPr/>
        </p:nvSpPr>
        <p:spPr>
          <a:xfrm>
            <a:off x="4366313" y="4452913"/>
            <a:ext cx="3486150" cy="9525"/>
          </a:xfrm>
          <a:custGeom>
            <a:rect b="b" l="l" r="r" t="t"/>
            <a:pathLst>
              <a:path extrusionOk="0" h="9525" w="3486150">
                <a:moveTo>
                  <a:pt x="0" y="0"/>
                </a:moveTo>
                <a:lnTo>
                  <a:pt x="3486150" y="0"/>
                </a:lnTo>
                <a:lnTo>
                  <a:pt x="3486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1A2FF">
              <a:alpha val="30196"/>
            </a:srgbClr>
          </a:solidFill>
          <a:ln>
            <a:noFill/>
          </a:ln>
        </p:spPr>
      </p:sp>
      <p:sp>
        <p:nvSpPr>
          <p:cNvPr id="264" name="Google Shape;264;p8"/>
          <p:cNvSpPr/>
          <p:nvPr/>
        </p:nvSpPr>
        <p:spPr>
          <a:xfrm>
            <a:off x="8108688" y="1047750"/>
            <a:ext cx="3724275" cy="4276725"/>
          </a:xfrm>
          <a:custGeom>
            <a:rect b="b" l="l" r="r" t="t"/>
            <a:pathLst>
              <a:path extrusionOk="0" h="4276725" w="372427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4200526"/>
                </a:lnTo>
                <a:cubicBezTo>
                  <a:pt x="3724275" y="4242610"/>
                  <a:pt x="3690160" y="4276725"/>
                  <a:pt x="3648076" y="4276725"/>
                </a:cubicBezTo>
                <a:lnTo>
                  <a:pt x="76199" y="4276725"/>
                </a:lnTo>
                <a:cubicBezTo>
                  <a:pt x="34115" y="4276725"/>
                  <a:pt x="0" y="4242610"/>
                  <a:pt x="0" y="42005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FF6467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6" scaled="0"/>
          </a:gradFill>
          <a:ln cap="flat" cmpd="sng" w="12700">
            <a:solidFill>
              <a:srgbClr val="FF646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8227750" y="1185863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8799250" y="1166813"/>
            <a:ext cx="170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 3</a:t>
            </a:r>
            <a:endParaRPr b="0" i="0" sz="1600" u="none" cap="none" strike="noStrike"/>
          </a:p>
        </p:txBody>
      </p:sp>
      <p:sp>
        <p:nvSpPr>
          <p:cNvPr id="267" name="Google Shape;267;p8"/>
          <p:cNvSpPr/>
          <p:nvPr/>
        </p:nvSpPr>
        <p:spPr>
          <a:xfrm>
            <a:off x="8799250" y="1395425"/>
            <a:ext cx="225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COMPETITIVE MODE</a:t>
            </a:r>
            <a:endParaRPr b="0" i="0" sz="1600" u="none" cap="none" strike="noStrike"/>
          </a:p>
        </p:txBody>
      </p:sp>
      <p:sp>
        <p:nvSpPr>
          <p:cNvPr id="268" name="Google Shape;268;p8"/>
          <p:cNvSpPr/>
          <p:nvPr/>
        </p:nvSpPr>
        <p:spPr>
          <a:xfrm>
            <a:off x="8227750" y="1738313"/>
            <a:ext cx="3486150" cy="914400"/>
          </a:xfrm>
          <a:custGeom>
            <a:rect b="b" l="l" r="r" t="t"/>
            <a:pathLst>
              <a:path extrusionOk="0" h="914400" w="3486150">
                <a:moveTo>
                  <a:pt x="76197" y="0"/>
                </a:moveTo>
                <a:lnTo>
                  <a:pt x="3409953" y="0"/>
                </a:lnTo>
                <a:cubicBezTo>
                  <a:pt x="3452035" y="0"/>
                  <a:pt x="3486150" y="34115"/>
                  <a:pt x="3486150" y="76197"/>
                </a:cubicBezTo>
                <a:lnTo>
                  <a:pt x="3486150" y="838203"/>
                </a:lnTo>
                <a:cubicBezTo>
                  <a:pt x="3486150" y="880285"/>
                  <a:pt x="3452035" y="914400"/>
                  <a:pt x="34099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8303950" y="1814513"/>
            <a:ext cx="341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Lower Competitor Penalty</a:t>
            </a:r>
            <a:endParaRPr b="0" i="0" sz="1600" u="none" cap="none" strike="noStrike"/>
          </a:p>
        </p:txBody>
      </p:sp>
      <p:sp>
        <p:nvSpPr>
          <p:cNvPr id="270" name="Google Shape;270;p8"/>
          <p:cNvSpPr/>
          <p:nvPr/>
        </p:nvSpPr>
        <p:spPr>
          <a:xfrm>
            <a:off x="8303950" y="2081213"/>
            <a:ext cx="3410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dominant players confident in outperforming competitors and maximising visibility.</a:t>
            </a:r>
            <a:endParaRPr b="0" i="0" sz="1600" u="none" cap="none" strike="noStrike"/>
          </a:p>
        </p:txBody>
      </p:sp>
      <p:sp>
        <p:nvSpPr>
          <p:cNvPr id="271" name="Google Shape;271;p8"/>
          <p:cNvSpPr/>
          <p:nvPr/>
        </p:nvSpPr>
        <p:spPr>
          <a:xfrm>
            <a:off x="8246800" y="2767013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8494450" y="2728925"/>
            <a:ext cx="265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Prioritises high-exposure locations</a:t>
            </a:r>
            <a:endParaRPr b="0" i="0" sz="1600" u="none" cap="none" strike="noStrike"/>
          </a:p>
        </p:txBody>
      </p:sp>
      <p:sp>
        <p:nvSpPr>
          <p:cNvPr id="273" name="Google Shape;273;p8"/>
          <p:cNvSpPr/>
          <p:nvPr/>
        </p:nvSpPr>
        <p:spPr>
          <a:xfrm>
            <a:off x="8246800" y="3052763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8494450" y="3014675"/>
            <a:ext cx="33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Accepts and leverages competitive environments</a:t>
            </a:r>
            <a:endParaRPr b="0" i="0" sz="1600" u="none" cap="none" strike="noStrike"/>
          </a:p>
        </p:txBody>
      </p:sp>
      <p:sp>
        <p:nvSpPr>
          <p:cNvPr id="275" name="Google Shape;275;p8"/>
          <p:cNvSpPr/>
          <p:nvPr/>
        </p:nvSpPr>
        <p:spPr>
          <a:xfrm>
            <a:off x="8246800" y="3338513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8494450" y="3300425"/>
            <a:ext cx="308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Focused on market dominance and scale</a:t>
            </a:r>
            <a:endParaRPr b="0" i="0" sz="1600" u="none" cap="none" strike="noStrike"/>
          </a:p>
        </p:txBody>
      </p:sp>
      <p:sp>
        <p:nvSpPr>
          <p:cNvPr id="277" name="Google Shape;277;p8"/>
          <p:cNvSpPr/>
          <p:nvPr/>
        </p:nvSpPr>
        <p:spPr>
          <a:xfrm>
            <a:off x="8227625" y="3758413"/>
            <a:ext cx="3486150" cy="9525"/>
          </a:xfrm>
          <a:custGeom>
            <a:rect b="b" l="l" r="r" t="t"/>
            <a:pathLst>
              <a:path extrusionOk="0" h="9525" w="3486150">
                <a:moveTo>
                  <a:pt x="0" y="0"/>
                </a:moveTo>
                <a:lnTo>
                  <a:pt x="3486150" y="0"/>
                </a:lnTo>
                <a:lnTo>
                  <a:pt x="3486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6467">
              <a:alpha val="30199"/>
            </a:srgbClr>
          </a:solidFill>
          <a:ln>
            <a:noFill/>
          </a:ln>
        </p:spPr>
      </p:sp>
      <p:sp>
        <p:nvSpPr>
          <p:cNvPr id="278" name="Google Shape;278;p8"/>
          <p:cNvSpPr/>
          <p:nvPr/>
        </p:nvSpPr>
        <p:spPr>
          <a:xfrm>
            <a:off x="8494450" y="5883274"/>
            <a:ext cx="4106013" cy="1229558"/>
          </a:xfrm>
          <a:custGeom>
            <a:rect b="b" l="l" r="r" t="t"/>
            <a:pathLst>
              <a:path extrusionOk="0" h="4276725" w="372427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4200526"/>
                </a:lnTo>
                <a:cubicBezTo>
                  <a:pt x="3724275" y="4242610"/>
                  <a:pt x="3690160" y="4276725"/>
                  <a:pt x="3648076" y="4276725"/>
                </a:cubicBezTo>
                <a:lnTo>
                  <a:pt x="76199" y="4276725"/>
                </a:lnTo>
                <a:cubicBezTo>
                  <a:pt x="34115" y="4276725"/>
                  <a:pt x="0" y="4242610"/>
                  <a:pt x="0" y="42005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FF6467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6" scaled="0"/>
          </a:gradFill>
          <a:ln cap="flat" cmpd="sng" w="12700">
            <a:solidFill>
              <a:srgbClr val="FF646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Choose the mode that best aligns with your business </a:t>
            </a:r>
            <a:endParaRPr b="1" sz="1200">
              <a:solidFill>
                <a:srgbClr val="E5E7E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strategy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8265700" y="2795225"/>
            <a:ext cx="114600" cy="96000"/>
          </a:xfrm>
          <a:prstGeom prst="ellipse">
            <a:avLst/>
          </a:pr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8265700" y="3080975"/>
            <a:ext cx="114600" cy="96000"/>
          </a:xfrm>
          <a:prstGeom prst="ellipse">
            <a:avLst/>
          </a:pr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8265700" y="3366725"/>
            <a:ext cx="114600" cy="96000"/>
          </a:xfrm>
          <a:prstGeom prst="ellipse">
            <a:avLst/>
          </a:pr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4404275" y="3385750"/>
            <a:ext cx="114600" cy="96000"/>
          </a:xfrm>
          <a:prstGeom prst="ellipse">
            <a:avLst/>
          </a:prstGeom>
          <a:solidFill>
            <a:srgbClr val="52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4404275" y="3661975"/>
            <a:ext cx="114600" cy="96000"/>
          </a:xfrm>
          <a:prstGeom prst="ellipse">
            <a:avLst/>
          </a:prstGeom>
          <a:solidFill>
            <a:srgbClr val="52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404275" y="3947725"/>
            <a:ext cx="114600" cy="96000"/>
          </a:xfrm>
          <a:prstGeom prst="ellipse">
            <a:avLst/>
          </a:prstGeom>
          <a:solidFill>
            <a:srgbClr val="52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542800" y="4147750"/>
            <a:ext cx="114600" cy="96000"/>
          </a:xfrm>
          <a:prstGeom prst="ellipse">
            <a:avLst/>
          </a:prstGeom>
          <a:solidFill>
            <a:srgbClr val="3EC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542800" y="4423975"/>
            <a:ext cx="114600" cy="96000"/>
          </a:xfrm>
          <a:prstGeom prst="ellipse">
            <a:avLst/>
          </a:prstGeom>
          <a:solidFill>
            <a:srgbClr val="3EC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542800" y="4724200"/>
            <a:ext cx="114600" cy="96000"/>
          </a:xfrm>
          <a:prstGeom prst="ellipse">
            <a:avLst/>
          </a:prstGeom>
          <a:solidFill>
            <a:srgbClr val="3EC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3538800" y="344113"/>
            <a:ext cx="45699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“With adjustable scoring weights, you can tailor the model to prioritise what matters most to your business—whether that’s avoiding competition or maximising exposure.”</a:t>
            </a:r>
            <a:endParaRPr sz="11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171900" y="15232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“Location strategy isn’t one-size-fits-all. 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350849" y="438561"/>
            <a:ext cx="70170" cy="421019"/>
          </a:xfrm>
          <a:custGeom>
            <a:rect b="b" l="l" r="r" t="t"/>
            <a:pathLst>
              <a:path extrusionOk="0" h="421019" w="70170">
                <a:moveTo>
                  <a:pt x="0" y="0"/>
                </a:moveTo>
                <a:lnTo>
                  <a:pt x="70170" y="0"/>
                </a:lnTo>
                <a:lnTo>
                  <a:pt x="70170" y="421019"/>
                </a:lnTo>
                <a:lnTo>
                  <a:pt x="0" y="421019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296" name="Google Shape;296;p9"/>
          <p:cNvSpPr/>
          <p:nvPr/>
        </p:nvSpPr>
        <p:spPr>
          <a:xfrm>
            <a:off x="526273" y="350849"/>
            <a:ext cx="2070009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 DESIGN</a:t>
            </a:r>
            <a:endParaRPr b="0" i="0" sz="1600" u="none" cap="none" strike="noStrike"/>
          </a:p>
        </p:txBody>
      </p:sp>
      <p:sp>
        <p:nvSpPr>
          <p:cNvPr id="297" name="Google Shape;297;p9"/>
          <p:cNvSpPr/>
          <p:nvPr/>
        </p:nvSpPr>
        <p:spPr>
          <a:xfrm>
            <a:off x="526273" y="596443"/>
            <a:ext cx="2157721" cy="35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86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Product Demo</a:t>
            </a:r>
            <a:endParaRPr b="0" i="0" sz="1600" u="none" cap="none" strike="noStrike"/>
          </a:p>
        </p:txBody>
      </p:sp>
      <p:sp>
        <p:nvSpPr>
          <p:cNvPr id="298" name="Google Shape;298;p9"/>
          <p:cNvSpPr/>
          <p:nvPr/>
        </p:nvSpPr>
        <p:spPr>
          <a:xfrm>
            <a:off x="526273" y="1017462"/>
            <a:ext cx="11393819" cy="245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3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experience &amp; interface design</a:t>
            </a:r>
            <a:endParaRPr b="0" i="0" sz="1600" u="none" cap="none" strike="noStrike"/>
          </a:p>
        </p:txBody>
      </p:sp>
      <p:sp>
        <p:nvSpPr>
          <p:cNvPr id="299" name="Google Shape;299;p9"/>
          <p:cNvSpPr/>
          <p:nvPr/>
        </p:nvSpPr>
        <p:spPr>
          <a:xfrm>
            <a:off x="355235" y="1407781"/>
            <a:ext cx="5666210" cy="2078780"/>
          </a:xfrm>
          <a:custGeom>
            <a:rect b="b" l="l" r="r" t="t"/>
            <a:pathLst>
              <a:path extrusionOk="0" h="2078780" w="5666210">
                <a:moveTo>
                  <a:pt x="70180" y="0"/>
                </a:moveTo>
                <a:lnTo>
                  <a:pt x="5596030" y="0"/>
                </a:lnTo>
                <a:cubicBezTo>
                  <a:pt x="5634790" y="0"/>
                  <a:pt x="5666210" y="31420"/>
                  <a:pt x="5666210" y="70180"/>
                </a:cubicBezTo>
                <a:lnTo>
                  <a:pt x="5666210" y="2008600"/>
                </a:lnTo>
                <a:cubicBezTo>
                  <a:pt x="5666210" y="2047359"/>
                  <a:pt x="5634790" y="2078780"/>
                  <a:pt x="5596030" y="2078780"/>
                </a:cubicBezTo>
                <a:lnTo>
                  <a:pt x="70180" y="2078780"/>
                </a:lnTo>
                <a:cubicBezTo>
                  <a:pt x="31420" y="2078780"/>
                  <a:pt x="0" y="2047359"/>
                  <a:pt x="0" y="2008600"/>
                </a:cubicBezTo>
                <a:lnTo>
                  <a:pt x="0" y="70180"/>
                </a:lnTo>
                <a:cubicBezTo>
                  <a:pt x="0" y="31446"/>
                  <a:pt x="31446" y="0"/>
                  <a:pt x="70180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3DCC9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499960" y="1552506"/>
            <a:ext cx="421019" cy="421019"/>
          </a:xfrm>
          <a:custGeom>
            <a:rect b="b" l="l" r="r" t="t"/>
            <a:pathLst>
              <a:path extrusionOk="0" h="421019" w="421019">
                <a:moveTo>
                  <a:pt x="105255" y="0"/>
                </a:moveTo>
                <a:lnTo>
                  <a:pt x="315764" y="0"/>
                </a:lnTo>
                <a:cubicBezTo>
                  <a:pt x="373895" y="0"/>
                  <a:pt x="421019" y="47124"/>
                  <a:pt x="421019" y="105255"/>
                </a:cubicBezTo>
                <a:lnTo>
                  <a:pt x="421019" y="315764"/>
                </a:lnTo>
                <a:cubicBezTo>
                  <a:pt x="421019" y="373895"/>
                  <a:pt x="373895" y="421019"/>
                  <a:pt x="315764" y="421019"/>
                </a:cubicBezTo>
                <a:lnTo>
                  <a:pt x="105255" y="421019"/>
                </a:lnTo>
                <a:cubicBezTo>
                  <a:pt x="47124" y="421019"/>
                  <a:pt x="0" y="373895"/>
                  <a:pt x="0" y="315764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605214" y="1657761"/>
            <a:ext cx="210509" cy="210509"/>
          </a:xfrm>
          <a:custGeom>
            <a:rect b="b" l="l" r="r" t="t"/>
            <a:pathLst>
              <a:path extrusionOk="0" h="210509" w="210509">
                <a:moveTo>
                  <a:pt x="0" y="105255"/>
                </a:moveTo>
                <a:cubicBezTo>
                  <a:pt x="0" y="47163"/>
                  <a:pt x="47163" y="0"/>
                  <a:pt x="105255" y="0"/>
                </a:cubicBezTo>
                <a:cubicBezTo>
                  <a:pt x="163346" y="0"/>
                  <a:pt x="210509" y="47163"/>
                  <a:pt x="210509" y="105255"/>
                </a:cubicBezTo>
                <a:cubicBezTo>
                  <a:pt x="210509" y="163346"/>
                  <a:pt x="163346" y="210509"/>
                  <a:pt x="105255" y="210509"/>
                </a:cubicBezTo>
                <a:cubicBezTo>
                  <a:pt x="47163" y="210509"/>
                  <a:pt x="0" y="163346"/>
                  <a:pt x="0" y="105255"/>
                </a:cubicBezTo>
                <a:close/>
                <a:moveTo>
                  <a:pt x="77420" y="60480"/>
                </a:moveTo>
                <a:cubicBezTo>
                  <a:pt x="74295" y="62207"/>
                  <a:pt x="72363" y="65537"/>
                  <a:pt x="72363" y="69073"/>
                </a:cubicBezTo>
                <a:lnTo>
                  <a:pt x="72363" y="141436"/>
                </a:lnTo>
                <a:cubicBezTo>
                  <a:pt x="72363" y="145013"/>
                  <a:pt x="74295" y="148302"/>
                  <a:pt x="77420" y="150029"/>
                </a:cubicBezTo>
                <a:cubicBezTo>
                  <a:pt x="80544" y="151756"/>
                  <a:pt x="84327" y="151715"/>
                  <a:pt x="87411" y="149823"/>
                </a:cubicBezTo>
                <a:lnTo>
                  <a:pt x="146616" y="113642"/>
                </a:lnTo>
                <a:cubicBezTo>
                  <a:pt x="149536" y="111833"/>
                  <a:pt x="151345" y="108667"/>
                  <a:pt x="151345" y="105214"/>
                </a:cubicBezTo>
                <a:cubicBezTo>
                  <a:pt x="151345" y="101760"/>
                  <a:pt x="149536" y="98594"/>
                  <a:pt x="146616" y="96785"/>
                </a:cubicBezTo>
                <a:lnTo>
                  <a:pt x="87411" y="60604"/>
                </a:lnTo>
                <a:cubicBezTo>
                  <a:pt x="84368" y="58753"/>
                  <a:pt x="80544" y="58671"/>
                  <a:pt x="77420" y="60398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1026233" y="1622676"/>
            <a:ext cx="1912127" cy="280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8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Live Demonstration</a:t>
            </a:r>
            <a:endParaRPr b="0" i="0" sz="1600" u="none" cap="none" strike="noStrike"/>
          </a:p>
        </p:txBody>
      </p:sp>
      <p:sp>
        <p:nvSpPr>
          <p:cNvPr id="303" name="Google Shape;303;p9"/>
          <p:cNvSpPr/>
          <p:nvPr/>
        </p:nvSpPr>
        <p:spPr>
          <a:xfrm>
            <a:off x="499960" y="2078780"/>
            <a:ext cx="5446929" cy="45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Watch as Startup Spot Global transforms complex data manipulation into a </a:t>
            </a:r>
            <a:r>
              <a:rPr b="1" i="0" lang="en-US" sz="110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clean, intuitive map interface</a:t>
            </a: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tailored for non-technical business founders.</a:t>
            </a:r>
            <a:endParaRPr b="0" i="0" sz="1600" u="none" cap="none" strike="noStrike"/>
          </a:p>
        </p:txBody>
      </p:sp>
      <p:sp>
        <p:nvSpPr>
          <p:cNvPr id="304" name="Google Shape;304;p9"/>
          <p:cNvSpPr/>
          <p:nvPr/>
        </p:nvSpPr>
        <p:spPr>
          <a:xfrm>
            <a:off x="499960" y="2640138"/>
            <a:ext cx="5376760" cy="701698"/>
          </a:xfrm>
          <a:custGeom>
            <a:rect b="b" l="l" r="r" t="t"/>
            <a:pathLst>
              <a:path extrusionOk="0" h="701698" w="5376760">
                <a:moveTo>
                  <a:pt x="70170" y="0"/>
                </a:moveTo>
                <a:lnTo>
                  <a:pt x="5306590" y="0"/>
                </a:lnTo>
                <a:cubicBezTo>
                  <a:pt x="5345344" y="0"/>
                  <a:pt x="5376760" y="31416"/>
                  <a:pt x="5376760" y="70170"/>
                </a:cubicBezTo>
                <a:lnTo>
                  <a:pt x="5376760" y="631528"/>
                </a:lnTo>
                <a:cubicBezTo>
                  <a:pt x="5376760" y="670282"/>
                  <a:pt x="5345344" y="701698"/>
                  <a:pt x="5306590" y="701698"/>
                </a:cubicBezTo>
                <a:lnTo>
                  <a:pt x="70170" y="701698"/>
                </a:lnTo>
                <a:cubicBezTo>
                  <a:pt x="31416" y="701698"/>
                  <a:pt x="0" y="670282"/>
                  <a:pt x="0" y="631528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622757" y="2776092"/>
            <a:ext cx="140340" cy="140340"/>
          </a:xfrm>
          <a:custGeom>
            <a:rect b="b" l="l" r="r" t="t"/>
            <a:pathLst>
              <a:path extrusionOk="0" h="140340" w="140340">
                <a:moveTo>
                  <a:pt x="70170" y="0"/>
                </a:moveTo>
                <a:cubicBezTo>
                  <a:pt x="108898" y="0"/>
                  <a:pt x="140340" y="31442"/>
                  <a:pt x="140340" y="70170"/>
                </a:cubicBezTo>
                <a:cubicBezTo>
                  <a:pt x="140340" y="108898"/>
                  <a:pt x="108898" y="140340"/>
                  <a:pt x="70170" y="140340"/>
                </a:cubicBezTo>
                <a:cubicBezTo>
                  <a:pt x="31442" y="140340"/>
                  <a:pt x="0" y="108898"/>
                  <a:pt x="0" y="70170"/>
                </a:cubicBezTo>
                <a:cubicBezTo>
                  <a:pt x="0" y="31442"/>
                  <a:pt x="31442" y="0"/>
                  <a:pt x="70170" y="0"/>
                </a:cubicBezTo>
                <a:close/>
                <a:moveTo>
                  <a:pt x="63591" y="32892"/>
                </a:moveTo>
                <a:lnTo>
                  <a:pt x="63591" y="70170"/>
                </a:lnTo>
                <a:cubicBezTo>
                  <a:pt x="63591" y="72363"/>
                  <a:pt x="64688" y="74418"/>
                  <a:pt x="66524" y="75652"/>
                </a:cubicBezTo>
                <a:lnTo>
                  <a:pt x="92838" y="93194"/>
                </a:lnTo>
                <a:cubicBezTo>
                  <a:pt x="95853" y="95223"/>
                  <a:pt x="99937" y="94400"/>
                  <a:pt x="101965" y="91358"/>
                </a:cubicBezTo>
                <a:cubicBezTo>
                  <a:pt x="103994" y="88315"/>
                  <a:pt x="103172" y="84259"/>
                  <a:pt x="100129" y="82230"/>
                </a:cubicBezTo>
                <a:lnTo>
                  <a:pt x="76748" y="66661"/>
                </a:lnTo>
                <a:lnTo>
                  <a:pt x="76748" y="32892"/>
                </a:lnTo>
                <a:cubicBezTo>
                  <a:pt x="76748" y="29247"/>
                  <a:pt x="73815" y="26314"/>
                  <a:pt x="70170" y="26314"/>
                </a:cubicBezTo>
                <a:cubicBezTo>
                  <a:pt x="66524" y="26314"/>
                  <a:pt x="63591" y="29247"/>
                  <a:pt x="63591" y="32892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829101" y="2745393"/>
            <a:ext cx="5012533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 Duration:</a:t>
            </a: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30-60 seconds</a:t>
            </a:r>
            <a:endParaRPr b="0" i="0" sz="1600" u="none" cap="none" strike="noStrike"/>
          </a:p>
        </p:txBody>
      </p:sp>
      <p:sp>
        <p:nvSpPr>
          <p:cNvPr id="307" name="Google Shape;307;p9"/>
          <p:cNvSpPr/>
          <p:nvPr/>
        </p:nvSpPr>
        <p:spPr>
          <a:xfrm>
            <a:off x="613986" y="3056771"/>
            <a:ext cx="157882" cy="140340"/>
          </a:xfrm>
          <a:custGeom>
            <a:rect b="b" l="l" r="r" t="t"/>
            <a:pathLst>
              <a:path extrusionOk="0" h="140340" w="157882">
                <a:moveTo>
                  <a:pt x="78941" y="8771"/>
                </a:moveTo>
                <a:cubicBezTo>
                  <a:pt x="56794" y="8771"/>
                  <a:pt x="39059" y="18858"/>
                  <a:pt x="26149" y="30864"/>
                </a:cubicBezTo>
                <a:cubicBezTo>
                  <a:pt x="13321" y="42787"/>
                  <a:pt x="4742" y="57013"/>
                  <a:pt x="658" y="66798"/>
                </a:cubicBezTo>
                <a:cubicBezTo>
                  <a:pt x="-247" y="68964"/>
                  <a:pt x="-247" y="71376"/>
                  <a:pt x="658" y="73541"/>
                </a:cubicBezTo>
                <a:cubicBezTo>
                  <a:pt x="4742" y="83327"/>
                  <a:pt x="13321" y="97580"/>
                  <a:pt x="26149" y="109476"/>
                </a:cubicBezTo>
                <a:cubicBezTo>
                  <a:pt x="39059" y="121454"/>
                  <a:pt x="56794" y="131568"/>
                  <a:pt x="78941" y="131568"/>
                </a:cubicBezTo>
                <a:cubicBezTo>
                  <a:pt x="101088" y="131568"/>
                  <a:pt x="118823" y="121481"/>
                  <a:pt x="131733" y="109476"/>
                </a:cubicBezTo>
                <a:cubicBezTo>
                  <a:pt x="144561" y="97552"/>
                  <a:pt x="153140" y="83327"/>
                  <a:pt x="157224" y="73541"/>
                </a:cubicBezTo>
                <a:cubicBezTo>
                  <a:pt x="158129" y="71376"/>
                  <a:pt x="158129" y="68964"/>
                  <a:pt x="157224" y="66798"/>
                </a:cubicBezTo>
                <a:cubicBezTo>
                  <a:pt x="153140" y="57013"/>
                  <a:pt x="144561" y="42760"/>
                  <a:pt x="131733" y="30864"/>
                </a:cubicBezTo>
                <a:cubicBezTo>
                  <a:pt x="118823" y="18886"/>
                  <a:pt x="101088" y="8771"/>
                  <a:pt x="78941" y="8771"/>
                </a:cubicBezTo>
                <a:close/>
                <a:moveTo>
                  <a:pt x="39471" y="70170"/>
                </a:moveTo>
                <a:cubicBezTo>
                  <a:pt x="39471" y="48385"/>
                  <a:pt x="57157" y="30699"/>
                  <a:pt x="78941" y="30699"/>
                </a:cubicBezTo>
                <a:cubicBezTo>
                  <a:pt x="100725" y="30699"/>
                  <a:pt x="118412" y="48385"/>
                  <a:pt x="118412" y="70170"/>
                </a:cubicBezTo>
                <a:cubicBezTo>
                  <a:pt x="118412" y="91954"/>
                  <a:pt x="100725" y="109640"/>
                  <a:pt x="78941" y="109640"/>
                </a:cubicBezTo>
                <a:cubicBezTo>
                  <a:pt x="57157" y="109640"/>
                  <a:pt x="39471" y="91954"/>
                  <a:pt x="39471" y="70170"/>
                </a:cubicBezTo>
                <a:close/>
                <a:moveTo>
                  <a:pt x="78941" y="52627"/>
                </a:moveTo>
                <a:cubicBezTo>
                  <a:pt x="78941" y="62303"/>
                  <a:pt x="71074" y="70170"/>
                  <a:pt x="61399" y="70170"/>
                </a:cubicBezTo>
                <a:cubicBezTo>
                  <a:pt x="58246" y="70170"/>
                  <a:pt x="55286" y="69347"/>
                  <a:pt x="52710" y="67867"/>
                </a:cubicBezTo>
                <a:cubicBezTo>
                  <a:pt x="52435" y="70855"/>
                  <a:pt x="52682" y="73925"/>
                  <a:pt x="53504" y="76967"/>
                </a:cubicBezTo>
                <a:cubicBezTo>
                  <a:pt x="57260" y="91001"/>
                  <a:pt x="71705" y="99334"/>
                  <a:pt x="85739" y="95579"/>
                </a:cubicBezTo>
                <a:cubicBezTo>
                  <a:pt x="99773" y="91824"/>
                  <a:pt x="108105" y="77379"/>
                  <a:pt x="104350" y="63345"/>
                </a:cubicBezTo>
                <a:cubicBezTo>
                  <a:pt x="101006" y="50818"/>
                  <a:pt x="89138" y="42842"/>
                  <a:pt x="76639" y="43938"/>
                </a:cubicBezTo>
                <a:cubicBezTo>
                  <a:pt x="78091" y="46487"/>
                  <a:pt x="78941" y="49448"/>
                  <a:pt x="78941" y="52627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829101" y="3026072"/>
            <a:ext cx="5012533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Focus:</a:t>
            </a: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User journey from input to recommendation</a:t>
            </a:r>
            <a:endParaRPr b="0" i="0" sz="1600" u="none" cap="none" strike="noStrike"/>
          </a:p>
        </p:txBody>
      </p:sp>
      <p:sp>
        <p:nvSpPr>
          <p:cNvPr id="309" name="Google Shape;309;p9"/>
          <p:cNvSpPr/>
          <p:nvPr/>
        </p:nvSpPr>
        <p:spPr>
          <a:xfrm>
            <a:off x="350849" y="3631286"/>
            <a:ext cx="5674981" cy="3561117"/>
          </a:xfrm>
          <a:custGeom>
            <a:rect b="b" l="l" r="r" t="t"/>
            <a:pathLst>
              <a:path extrusionOk="0" h="3561117" w="5674981">
                <a:moveTo>
                  <a:pt x="70154" y="0"/>
                </a:moveTo>
                <a:lnTo>
                  <a:pt x="5604827" y="0"/>
                </a:lnTo>
                <a:cubicBezTo>
                  <a:pt x="5643572" y="0"/>
                  <a:pt x="5674981" y="31409"/>
                  <a:pt x="5674981" y="70154"/>
                </a:cubicBezTo>
                <a:lnTo>
                  <a:pt x="5674981" y="3490963"/>
                </a:lnTo>
                <a:cubicBezTo>
                  <a:pt x="5674981" y="3529708"/>
                  <a:pt x="5643572" y="3561117"/>
                  <a:pt x="5604827" y="3561117"/>
                </a:cubicBezTo>
                <a:lnTo>
                  <a:pt x="70154" y="3561117"/>
                </a:lnTo>
                <a:cubicBezTo>
                  <a:pt x="31409" y="3561117"/>
                  <a:pt x="0" y="3529708"/>
                  <a:pt x="0" y="3490963"/>
                </a:cubicBezTo>
                <a:lnTo>
                  <a:pt x="0" y="70154"/>
                </a:lnTo>
                <a:cubicBezTo>
                  <a:pt x="0" y="31435"/>
                  <a:pt x="31435" y="0"/>
                  <a:pt x="7015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513117" y="3806711"/>
            <a:ext cx="175424" cy="175424"/>
          </a:xfrm>
          <a:custGeom>
            <a:rect b="b" l="l" r="r" t="t"/>
            <a:pathLst>
              <a:path extrusionOk="0" h="175424" w="175424">
                <a:moveTo>
                  <a:pt x="45843" y="12437"/>
                </a:moveTo>
                <a:cubicBezTo>
                  <a:pt x="49578" y="15041"/>
                  <a:pt x="50469" y="20181"/>
                  <a:pt x="47865" y="23881"/>
                </a:cubicBezTo>
                <a:lnTo>
                  <a:pt x="28678" y="51291"/>
                </a:lnTo>
                <a:cubicBezTo>
                  <a:pt x="27273" y="53278"/>
                  <a:pt x="25080" y="54546"/>
                  <a:pt x="22648" y="54752"/>
                </a:cubicBezTo>
                <a:cubicBezTo>
                  <a:pt x="20215" y="54957"/>
                  <a:pt x="17817" y="54135"/>
                  <a:pt x="16103" y="52422"/>
                </a:cubicBezTo>
                <a:lnTo>
                  <a:pt x="2398" y="38717"/>
                </a:lnTo>
                <a:cubicBezTo>
                  <a:pt x="-788" y="35496"/>
                  <a:pt x="-788" y="30288"/>
                  <a:pt x="2398" y="27067"/>
                </a:cubicBezTo>
                <a:cubicBezTo>
                  <a:pt x="5585" y="23847"/>
                  <a:pt x="10827" y="23881"/>
                  <a:pt x="14048" y="27067"/>
                </a:cubicBezTo>
                <a:lnTo>
                  <a:pt x="20832" y="33851"/>
                </a:lnTo>
                <a:lnTo>
                  <a:pt x="34400" y="14459"/>
                </a:lnTo>
                <a:cubicBezTo>
                  <a:pt x="37004" y="10724"/>
                  <a:pt x="42143" y="9833"/>
                  <a:pt x="45843" y="12437"/>
                </a:cubicBezTo>
                <a:close/>
                <a:moveTo>
                  <a:pt x="45843" y="67257"/>
                </a:moveTo>
                <a:cubicBezTo>
                  <a:pt x="49578" y="69861"/>
                  <a:pt x="50469" y="75001"/>
                  <a:pt x="47865" y="78701"/>
                </a:cubicBezTo>
                <a:lnTo>
                  <a:pt x="28678" y="106111"/>
                </a:lnTo>
                <a:cubicBezTo>
                  <a:pt x="27273" y="108098"/>
                  <a:pt x="25080" y="109366"/>
                  <a:pt x="22648" y="109572"/>
                </a:cubicBezTo>
                <a:cubicBezTo>
                  <a:pt x="20215" y="109777"/>
                  <a:pt x="17817" y="108955"/>
                  <a:pt x="16103" y="107242"/>
                </a:cubicBezTo>
                <a:lnTo>
                  <a:pt x="2398" y="93537"/>
                </a:lnTo>
                <a:cubicBezTo>
                  <a:pt x="-822" y="90316"/>
                  <a:pt x="-822" y="85108"/>
                  <a:pt x="2398" y="81922"/>
                </a:cubicBezTo>
                <a:cubicBezTo>
                  <a:pt x="5619" y="78735"/>
                  <a:pt x="10827" y="78701"/>
                  <a:pt x="14013" y="81922"/>
                </a:cubicBezTo>
                <a:lnTo>
                  <a:pt x="20797" y="88706"/>
                </a:lnTo>
                <a:lnTo>
                  <a:pt x="34365" y="69313"/>
                </a:lnTo>
                <a:cubicBezTo>
                  <a:pt x="36969" y="65579"/>
                  <a:pt x="42109" y="64688"/>
                  <a:pt x="45809" y="67292"/>
                </a:cubicBezTo>
                <a:close/>
                <a:moveTo>
                  <a:pt x="76748" y="32892"/>
                </a:moveTo>
                <a:cubicBezTo>
                  <a:pt x="76748" y="26828"/>
                  <a:pt x="81648" y="21928"/>
                  <a:pt x="87712" y="21928"/>
                </a:cubicBezTo>
                <a:lnTo>
                  <a:pt x="164460" y="21928"/>
                </a:lnTo>
                <a:cubicBezTo>
                  <a:pt x="170525" y="21928"/>
                  <a:pt x="175424" y="26828"/>
                  <a:pt x="175424" y="32892"/>
                </a:cubicBezTo>
                <a:cubicBezTo>
                  <a:pt x="175424" y="38957"/>
                  <a:pt x="170525" y="43856"/>
                  <a:pt x="164460" y="43856"/>
                </a:cubicBezTo>
                <a:lnTo>
                  <a:pt x="87712" y="43856"/>
                </a:lnTo>
                <a:cubicBezTo>
                  <a:pt x="81648" y="43856"/>
                  <a:pt x="76748" y="38957"/>
                  <a:pt x="76748" y="32892"/>
                </a:cubicBezTo>
                <a:close/>
                <a:moveTo>
                  <a:pt x="76748" y="87712"/>
                </a:moveTo>
                <a:cubicBezTo>
                  <a:pt x="76748" y="81648"/>
                  <a:pt x="81648" y="76748"/>
                  <a:pt x="87712" y="76748"/>
                </a:cubicBezTo>
                <a:lnTo>
                  <a:pt x="164460" y="76748"/>
                </a:lnTo>
                <a:cubicBezTo>
                  <a:pt x="170525" y="76748"/>
                  <a:pt x="175424" y="81648"/>
                  <a:pt x="175424" y="87712"/>
                </a:cubicBezTo>
                <a:cubicBezTo>
                  <a:pt x="175424" y="93777"/>
                  <a:pt x="170525" y="98676"/>
                  <a:pt x="164460" y="98676"/>
                </a:cubicBezTo>
                <a:lnTo>
                  <a:pt x="87712" y="98676"/>
                </a:lnTo>
                <a:cubicBezTo>
                  <a:pt x="81648" y="98676"/>
                  <a:pt x="76748" y="93777"/>
                  <a:pt x="76748" y="87712"/>
                </a:cubicBezTo>
                <a:close/>
                <a:moveTo>
                  <a:pt x="54820" y="142532"/>
                </a:moveTo>
                <a:cubicBezTo>
                  <a:pt x="54820" y="136468"/>
                  <a:pt x="59720" y="131568"/>
                  <a:pt x="65784" y="131568"/>
                </a:cubicBezTo>
                <a:lnTo>
                  <a:pt x="164460" y="131568"/>
                </a:lnTo>
                <a:cubicBezTo>
                  <a:pt x="170525" y="131568"/>
                  <a:pt x="175424" y="136468"/>
                  <a:pt x="175424" y="142532"/>
                </a:cubicBezTo>
                <a:cubicBezTo>
                  <a:pt x="175424" y="148597"/>
                  <a:pt x="170525" y="153496"/>
                  <a:pt x="164460" y="153496"/>
                </a:cubicBezTo>
                <a:lnTo>
                  <a:pt x="65784" y="153496"/>
                </a:lnTo>
                <a:cubicBezTo>
                  <a:pt x="59720" y="153496"/>
                  <a:pt x="54820" y="148597"/>
                  <a:pt x="54820" y="142532"/>
                </a:cubicBezTo>
                <a:close/>
                <a:moveTo>
                  <a:pt x="21928" y="128827"/>
                </a:moveTo>
                <a:cubicBezTo>
                  <a:pt x="29492" y="128827"/>
                  <a:pt x="35633" y="134968"/>
                  <a:pt x="35633" y="142532"/>
                </a:cubicBezTo>
                <a:cubicBezTo>
                  <a:pt x="35633" y="150096"/>
                  <a:pt x="29492" y="156237"/>
                  <a:pt x="21928" y="156237"/>
                </a:cubicBezTo>
                <a:cubicBezTo>
                  <a:pt x="14364" y="156237"/>
                  <a:pt x="8223" y="150096"/>
                  <a:pt x="8223" y="142532"/>
                </a:cubicBezTo>
                <a:cubicBezTo>
                  <a:pt x="8223" y="134968"/>
                  <a:pt x="14364" y="128827"/>
                  <a:pt x="21928" y="128827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710469" y="3771626"/>
            <a:ext cx="5262734" cy="245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1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Demo Highlights</a:t>
            </a:r>
            <a:endParaRPr b="0" i="0" sz="1600" u="none" cap="none" strike="noStrike"/>
          </a:p>
        </p:txBody>
      </p:sp>
      <p:sp>
        <p:nvSpPr>
          <p:cNvPr id="312" name="Google Shape;312;p9"/>
          <p:cNvSpPr/>
          <p:nvPr/>
        </p:nvSpPr>
        <p:spPr>
          <a:xfrm>
            <a:off x="491188" y="4122475"/>
            <a:ext cx="5394302" cy="666613"/>
          </a:xfrm>
          <a:custGeom>
            <a:rect b="b" l="l" r="r" t="t"/>
            <a:pathLst>
              <a:path extrusionOk="0" h="666613" w="5394302">
                <a:moveTo>
                  <a:pt x="70168" y="0"/>
                </a:moveTo>
                <a:lnTo>
                  <a:pt x="5324134" y="0"/>
                </a:lnTo>
                <a:cubicBezTo>
                  <a:pt x="5362887" y="0"/>
                  <a:pt x="5394302" y="31415"/>
                  <a:pt x="5394302" y="70168"/>
                </a:cubicBezTo>
                <a:lnTo>
                  <a:pt x="5394302" y="596445"/>
                </a:lnTo>
                <a:cubicBezTo>
                  <a:pt x="5394302" y="635198"/>
                  <a:pt x="5362887" y="666613"/>
                  <a:pt x="5324134" y="666613"/>
                </a:cubicBezTo>
                <a:lnTo>
                  <a:pt x="70168" y="666613"/>
                </a:lnTo>
                <a:cubicBezTo>
                  <a:pt x="31441" y="666613"/>
                  <a:pt x="0" y="635172"/>
                  <a:pt x="0" y="596445"/>
                </a:cubicBezTo>
                <a:lnTo>
                  <a:pt x="0" y="70168"/>
                </a:lnTo>
                <a:cubicBezTo>
                  <a:pt x="0" y="31441"/>
                  <a:pt x="31441" y="0"/>
                  <a:pt x="7016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596443" y="4227729"/>
            <a:ext cx="280679" cy="280679"/>
          </a:xfrm>
          <a:custGeom>
            <a:rect b="b" l="l" r="r" t="t"/>
            <a:pathLst>
              <a:path extrusionOk="0" h="280679" w="280679">
                <a:moveTo>
                  <a:pt x="140340" y="0"/>
                </a:moveTo>
                <a:lnTo>
                  <a:pt x="140340" y="0"/>
                </a:lnTo>
                <a:cubicBezTo>
                  <a:pt x="217795" y="0"/>
                  <a:pt x="280679" y="62884"/>
                  <a:pt x="280679" y="140340"/>
                </a:cubicBezTo>
                <a:lnTo>
                  <a:pt x="280679" y="140340"/>
                </a:lnTo>
                <a:cubicBezTo>
                  <a:pt x="280679" y="217795"/>
                  <a:pt x="217795" y="280679"/>
                  <a:pt x="140340" y="280679"/>
                </a:cubicBezTo>
                <a:lnTo>
                  <a:pt x="140340" y="280679"/>
                </a:lnTo>
                <a:cubicBezTo>
                  <a:pt x="62884" y="280679"/>
                  <a:pt x="0" y="217795"/>
                  <a:pt x="0" y="140340"/>
                </a:cubicBezTo>
                <a:lnTo>
                  <a:pt x="0" y="140340"/>
                </a:lnTo>
                <a:cubicBezTo>
                  <a:pt x="0" y="62884"/>
                  <a:pt x="62884" y="0"/>
                  <a:pt x="14034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717253" y="4280357"/>
            <a:ext cx="96483" cy="175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7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315" name="Google Shape;315;p9"/>
          <p:cNvSpPr/>
          <p:nvPr/>
        </p:nvSpPr>
        <p:spPr>
          <a:xfrm>
            <a:off x="982377" y="4227729"/>
            <a:ext cx="2850647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Frictionless Input</a:t>
            </a:r>
            <a:endParaRPr b="0" i="0" sz="1600" u="none" cap="none" strike="noStrike"/>
          </a:p>
        </p:txBody>
      </p:sp>
      <p:sp>
        <p:nvSpPr>
          <p:cNvPr id="316" name="Google Shape;316;p9"/>
          <p:cNvSpPr/>
          <p:nvPr/>
        </p:nvSpPr>
        <p:spPr>
          <a:xfrm>
            <a:off x="982377" y="4473324"/>
            <a:ext cx="2850647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selects business type with minimal clicks</a:t>
            </a:r>
            <a:endParaRPr b="0" i="0" sz="1600" u="none" cap="none" strike="noStrike"/>
          </a:p>
        </p:txBody>
      </p:sp>
      <p:sp>
        <p:nvSpPr>
          <p:cNvPr id="317" name="Google Shape;317;p9"/>
          <p:cNvSpPr/>
          <p:nvPr/>
        </p:nvSpPr>
        <p:spPr>
          <a:xfrm>
            <a:off x="491188" y="4859258"/>
            <a:ext cx="5394302" cy="666613"/>
          </a:xfrm>
          <a:custGeom>
            <a:rect b="b" l="l" r="r" t="t"/>
            <a:pathLst>
              <a:path extrusionOk="0" h="666613" w="5394302">
                <a:moveTo>
                  <a:pt x="70168" y="0"/>
                </a:moveTo>
                <a:lnTo>
                  <a:pt x="5324134" y="0"/>
                </a:lnTo>
                <a:cubicBezTo>
                  <a:pt x="5362887" y="0"/>
                  <a:pt x="5394302" y="31415"/>
                  <a:pt x="5394302" y="70168"/>
                </a:cubicBezTo>
                <a:lnTo>
                  <a:pt x="5394302" y="596445"/>
                </a:lnTo>
                <a:cubicBezTo>
                  <a:pt x="5394302" y="635198"/>
                  <a:pt x="5362887" y="666613"/>
                  <a:pt x="5324134" y="666613"/>
                </a:cubicBezTo>
                <a:lnTo>
                  <a:pt x="70168" y="666613"/>
                </a:lnTo>
                <a:cubicBezTo>
                  <a:pt x="31441" y="666613"/>
                  <a:pt x="0" y="635172"/>
                  <a:pt x="0" y="596445"/>
                </a:cubicBezTo>
                <a:lnTo>
                  <a:pt x="0" y="70168"/>
                </a:lnTo>
                <a:cubicBezTo>
                  <a:pt x="0" y="31441"/>
                  <a:pt x="31441" y="0"/>
                  <a:pt x="7016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596443" y="4964512"/>
            <a:ext cx="280679" cy="280679"/>
          </a:xfrm>
          <a:custGeom>
            <a:rect b="b" l="l" r="r" t="t"/>
            <a:pathLst>
              <a:path extrusionOk="0" h="280679" w="280679">
                <a:moveTo>
                  <a:pt x="140340" y="0"/>
                </a:moveTo>
                <a:lnTo>
                  <a:pt x="140340" y="0"/>
                </a:lnTo>
                <a:cubicBezTo>
                  <a:pt x="217795" y="0"/>
                  <a:pt x="280679" y="62884"/>
                  <a:pt x="280679" y="140340"/>
                </a:cubicBezTo>
                <a:lnTo>
                  <a:pt x="280679" y="140340"/>
                </a:lnTo>
                <a:cubicBezTo>
                  <a:pt x="280679" y="217795"/>
                  <a:pt x="217795" y="280679"/>
                  <a:pt x="140340" y="280679"/>
                </a:cubicBezTo>
                <a:lnTo>
                  <a:pt x="140340" y="280679"/>
                </a:lnTo>
                <a:cubicBezTo>
                  <a:pt x="62884" y="280679"/>
                  <a:pt x="0" y="217795"/>
                  <a:pt x="0" y="140340"/>
                </a:cubicBezTo>
                <a:lnTo>
                  <a:pt x="0" y="140340"/>
                </a:lnTo>
                <a:cubicBezTo>
                  <a:pt x="0" y="62884"/>
                  <a:pt x="62884" y="0"/>
                  <a:pt x="14034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705467" y="5017140"/>
            <a:ext cx="122797" cy="175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7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320" name="Google Shape;320;p9"/>
          <p:cNvSpPr/>
          <p:nvPr/>
        </p:nvSpPr>
        <p:spPr>
          <a:xfrm>
            <a:off x="982377" y="4964512"/>
            <a:ext cx="2587511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Processing</a:t>
            </a:r>
            <a:endParaRPr b="0" i="0" sz="1600" u="none" cap="none" strike="noStrike"/>
          </a:p>
        </p:txBody>
      </p:sp>
      <p:sp>
        <p:nvSpPr>
          <p:cNvPr id="321" name="Google Shape;321;p9"/>
          <p:cNvSpPr/>
          <p:nvPr/>
        </p:nvSpPr>
        <p:spPr>
          <a:xfrm>
            <a:off x="982377" y="5210106"/>
            <a:ext cx="2587511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 algorithm analyzes data instantly</a:t>
            </a:r>
            <a:endParaRPr b="0" i="0" sz="1600" u="none" cap="none" strike="noStrike"/>
          </a:p>
        </p:txBody>
      </p:sp>
      <p:sp>
        <p:nvSpPr>
          <p:cNvPr id="322" name="Google Shape;322;p9"/>
          <p:cNvSpPr/>
          <p:nvPr/>
        </p:nvSpPr>
        <p:spPr>
          <a:xfrm>
            <a:off x="491188" y="5596040"/>
            <a:ext cx="5394302" cy="666613"/>
          </a:xfrm>
          <a:custGeom>
            <a:rect b="b" l="l" r="r" t="t"/>
            <a:pathLst>
              <a:path extrusionOk="0" h="666613" w="5394302">
                <a:moveTo>
                  <a:pt x="70168" y="0"/>
                </a:moveTo>
                <a:lnTo>
                  <a:pt x="5324134" y="0"/>
                </a:lnTo>
                <a:cubicBezTo>
                  <a:pt x="5362887" y="0"/>
                  <a:pt x="5394302" y="31415"/>
                  <a:pt x="5394302" y="70168"/>
                </a:cubicBezTo>
                <a:lnTo>
                  <a:pt x="5394302" y="596445"/>
                </a:lnTo>
                <a:cubicBezTo>
                  <a:pt x="5394302" y="635198"/>
                  <a:pt x="5362887" y="666613"/>
                  <a:pt x="5324134" y="666613"/>
                </a:cubicBezTo>
                <a:lnTo>
                  <a:pt x="70168" y="666613"/>
                </a:lnTo>
                <a:cubicBezTo>
                  <a:pt x="31441" y="666613"/>
                  <a:pt x="0" y="635172"/>
                  <a:pt x="0" y="596445"/>
                </a:cubicBezTo>
                <a:lnTo>
                  <a:pt x="0" y="70168"/>
                </a:lnTo>
                <a:cubicBezTo>
                  <a:pt x="0" y="31441"/>
                  <a:pt x="31441" y="0"/>
                  <a:pt x="7016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596443" y="5701295"/>
            <a:ext cx="280679" cy="280679"/>
          </a:xfrm>
          <a:custGeom>
            <a:rect b="b" l="l" r="r" t="t"/>
            <a:pathLst>
              <a:path extrusionOk="0" h="280679" w="280679">
                <a:moveTo>
                  <a:pt x="140340" y="0"/>
                </a:moveTo>
                <a:lnTo>
                  <a:pt x="140340" y="0"/>
                </a:lnTo>
                <a:cubicBezTo>
                  <a:pt x="217795" y="0"/>
                  <a:pt x="280679" y="62884"/>
                  <a:pt x="280679" y="140340"/>
                </a:cubicBezTo>
                <a:lnTo>
                  <a:pt x="280679" y="140340"/>
                </a:lnTo>
                <a:cubicBezTo>
                  <a:pt x="280679" y="217795"/>
                  <a:pt x="217795" y="280679"/>
                  <a:pt x="140340" y="280679"/>
                </a:cubicBezTo>
                <a:lnTo>
                  <a:pt x="140340" y="280679"/>
                </a:lnTo>
                <a:cubicBezTo>
                  <a:pt x="62884" y="280679"/>
                  <a:pt x="0" y="217795"/>
                  <a:pt x="0" y="140340"/>
                </a:cubicBezTo>
                <a:lnTo>
                  <a:pt x="0" y="140340"/>
                </a:lnTo>
                <a:cubicBezTo>
                  <a:pt x="0" y="62884"/>
                  <a:pt x="62884" y="0"/>
                  <a:pt x="14034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703891" y="5753922"/>
            <a:ext cx="122797" cy="175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7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325" name="Google Shape;325;p9"/>
          <p:cNvSpPr/>
          <p:nvPr/>
        </p:nvSpPr>
        <p:spPr>
          <a:xfrm>
            <a:off x="982377" y="5701295"/>
            <a:ext cx="3350607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 Results</a:t>
            </a:r>
            <a:endParaRPr b="0" i="0" sz="1600" u="none" cap="none" strike="noStrike"/>
          </a:p>
        </p:txBody>
      </p:sp>
      <p:sp>
        <p:nvSpPr>
          <p:cNvPr id="326" name="Google Shape;326;p9"/>
          <p:cNvSpPr/>
          <p:nvPr/>
        </p:nvSpPr>
        <p:spPr>
          <a:xfrm>
            <a:off x="982377" y="5946889"/>
            <a:ext cx="3350607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Clear map visualization with scored recommendations</a:t>
            </a:r>
            <a:endParaRPr b="0" i="0" sz="1600" u="none" cap="none" strike="noStrike"/>
          </a:p>
        </p:txBody>
      </p:sp>
      <p:sp>
        <p:nvSpPr>
          <p:cNvPr id="327" name="Google Shape;327;p9"/>
          <p:cNvSpPr/>
          <p:nvPr/>
        </p:nvSpPr>
        <p:spPr>
          <a:xfrm>
            <a:off x="6167129" y="1403396"/>
            <a:ext cx="5674981" cy="4683833"/>
          </a:xfrm>
          <a:custGeom>
            <a:rect b="b" l="l" r="r" t="t"/>
            <a:pathLst>
              <a:path extrusionOk="0" h="4683833" w="5674981">
                <a:moveTo>
                  <a:pt x="70164" y="0"/>
                </a:moveTo>
                <a:lnTo>
                  <a:pt x="5604817" y="0"/>
                </a:lnTo>
                <a:cubicBezTo>
                  <a:pt x="5643568" y="0"/>
                  <a:pt x="5674981" y="31413"/>
                  <a:pt x="5674981" y="70164"/>
                </a:cubicBezTo>
                <a:lnTo>
                  <a:pt x="5674981" y="4613669"/>
                </a:lnTo>
                <a:cubicBezTo>
                  <a:pt x="5674981" y="4652420"/>
                  <a:pt x="5643568" y="4683833"/>
                  <a:pt x="5604817" y="4683833"/>
                </a:cubicBezTo>
                <a:lnTo>
                  <a:pt x="70164" y="4683833"/>
                </a:lnTo>
                <a:cubicBezTo>
                  <a:pt x="31413" y="4683833"/>
                  <a:pt x="0" y="4652420"/>
                  <a:pt x="0" y="4613669"/>
                </a:cubicBezTo>
                <a:lnTo>
                  <a:pt x="0" y="70164"/>
                </a:lnTo>
                <a:cubicBezTo>
                  <a:pt x="0" y="31439"/>
                  <a:pt x="31439" y="0"/>
                  <a:pt x="7016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6329397" y="1578820"/>
            <a:ext cx="175424" cy="175424"/>
          </a:xfrm>
          <a:custGeom>
            <a:rect b="b" l="l" r="r" t="t"/>
            <a:pathLst>
              <a:path extrusionOk="0" h="175424" w="175424">
                <a:moveTo>
                  <a:pt x="21928" y="10964"/>
                </a:moveTo>
                <a:cubicBezTo>
                  <a:pt x="9833" y="10964"/>
                  <a:pt x="0" y="20797"/>
                  <a:pt x="0" y="32892"/>
                </a:cubicBezTo>
                <a:lnTo>
                  <a:pt x="0" y="120604"/>
                </a:lnTo>
                <a:cubicBezTo>
                  <a:pt x="0" y="132699"/>
                  <a:pt x="9833" y="142532"/>
                  <a:pt x="21928" y="142532"/>
                </a:cubicBezTo>
                <a:lnTo>
                  <a:pt x="71266" y="142532"/>
                </a:lnTo>
                <a:lnTo>
                  <a:pt x="65784" y="158978"/>
                </a:lnTo>
                <a:lnTo>
                  <a:pt x="41115" y="158978"/>
                </a:lnTo>
                <a:cubicBezTo>
                  <a:pt x="36558" y="158978"/>
                  <a:pt x="32892" y="162645"/>
                  <a:pt x="32892" y="167201"/>
                </a:cubicBezTo>
                <a:cubicBezTo>
                  <a:pt x="32892" y="171758"/>
                  <a:pt x="36558" y="175424"/>
                  <a:pt x="41115" y="175424"/>
                </a:cubicBezTo>
                <a:lnTo>
                  <a:pt x="134309" y="175424"/>
                </a:lnTo>
                <a:cubicBezTo>
                  <a:pt x="138866" y="175424"/>
                  <a:pt x="142532" y="171758"/>
                  <a:pt x="142532" y="167201"/>
                </a:cubicBezTo>
                <a:cubicBezTo>
                  <a:pt x="142532" y="162645"/>
                  <a:pt x="138866" y="158978"/>
                  <a:pt x="134309" y="158978"/>
                </a:cubicBezTo>
                <a:lnTo>
                  <a:pt x="109640" y="158978"/>
                </a:lnTo>
                <a:lnTo>
                  <a:pt x="104158" y="142532"/>
                </a:lnTo>
                <a:lnTo>
                  <a:pt x="153496" y="142532"/>
                </a:lnTo>
                <a:cubicBezTo>
                  <a:pt x="165591" y="142532"/>
                  <a:pt x="175424" y="132699"/>
                  <a:pt x="175424" y="120604"/>
                </a:cubicBezTo>
                <a:lnTo>
                  <a:pt x="175424" y="32892"/>
                </a:lnTo>
                <a:cubicBezTo>
                  <a:pt x="175424" y="20797"/>
                  <a:pt x="165591" y="10964"/>
                  <a:pt x="153496" y="10964"/>
                </a:cubicBezTo>
                <a:lnTo>
                  <a:pt x="21928" y="10964"/>
                </a:lnTo>
                <a:close/>
                <a:moveTo>
                  <a:pt x="32892" y="32892"/>
                </a:moveTo>
                <a:lnTo>
                  <a:pt x="142532" y="32892"/>
                </a:lnTo>
                <a:cubicBezTo>
                  <a:pt x="148597" y="32892"/>
                  <a:pt x="153496" y="37792"/>
                  <a:pt x="153496" y="43856"/>
                </a:cubicBezTo>
                <a:lnTo>
                  <a:pt x="153496" y="98676"/>
                </a:lnTo>
                <a:cubicBezTo>
                  <a:pt x="153496" y="104741"/>
                  <a:pt x="148597" y="109640"/>
                  <a:pt x="142532" y="109640"/>
                </a:cubicBezTo>
                <a:lnTo>
                  <a:pt x="32892" y="109640"/>
                </a:lnTo>
                <a:cubicBezTo>
                  <a:pt x="26828" y="109640"/>
                  <a:pt x="21928" y="104741"/>
                  <a:pt x="21928" y="98676"/>
                </a:cubicBezTo>
                <a:lnTo>
                  <a:pt x="21928" y="43856"/>
                </a:lnTo>
                <a:cubicBezTo>
                  <a:pt x="21928" y="37792"/>
                  <a:pt x="26828" y="32892"/>
                  <a:pt x="32892" y="32892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6526749" y="1543735"/>
            <a:ext cx="5262734" cy="245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1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User Interface Preview</a:t>
            </a:r>
            <a:endParaRPr b="0" i="0" sz="1600" u="none" cap="none" strike="noStrike"/>
          </a:p>
        </p:txBody>
      </p:sp>
      <p:sp>
        <p:nvSpPr>
          <p:cNvPr id="330" name="Google Shape;330;p9"/>
          <p:cNvSpPr/>
          <p:nvPr/>
        </p:nvSpPr>
        <p:spPr>
          <a:xfrm>
            <a:off x="6307469" y="1894584"/>
            <a:ext cx="5394302" cy="3771626"/>
          </a:xfrm>
          <a:custGeom>
            <a:rect b="b" l="l" r="r" t="t"/>
            <a:pathLst>
              <a:path extrusionOk="0" h="3771626" w="5394302">
                <a:moveTo>
                  <a:pt x="70152" y="0"/>
                </a:moveTo>
                <a:lnTo>
                  <a:pt x="5324150" y="0"/>
                </a:lnTo>
                <a:cubicBezTo>
                  <a:pt x="5362894" y="0"/>
                  <a:pt x="5394302" y="31408"/>
                  <a:pt x="5394302" y="70152"/>
                </a:cubicBezTo>
                <a:lnTo>
                  <a:pt x="5394302" y="3701474"/>
                </a:lnTo>
                <a:cubicBezTo>
                  <a:pt x="5394302" y="3740218"/>
                  <a:pt x="5362894" y="3771626"/>
                  <a:pt x="5324150" y="3771626"/>
                </a:cubicBezTo>
                <a:lnTo>
                  <a:pt x="70152" y="3771626"/>
                </a:lnTo>
                <a:cubicBezTo>
                  <a:pt x="31408" y="3771626"/>
                  <a:pt x="0" y="3740218"/>
                  <a:pt x="0" y="3701474"/>
                </a:cubicBezTo>
                <a:lnTo>
                  <a:pt x="0" y="70152"/>
                </a:lnTo>
                <a:cubicBezTo>
                  <a:pt x="0" y="31434"/>
                  <a:pt x="31434" y="0"/>
                  <a:pt x="701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kimi-web-img.moonshot.cn/img/cdn.prod.website-files.com/96a66fcabd5d78086d124ebe2e51ad4956106438.png" id="331" name="Google Shape;331;p9"/>
          <p:cNvPicPr preferRelativeResize="0"/>
          <p:nvPr/>
        </p:nvPicPr>
        <p:blipFill rotWithShape="1">
          <a:blip r:embed="rId3">
            <a:alphaModFix/>
          </a:blip>
          <a:srcRect b="0" l="61" r="61" t="0"/>
          <a:stretch/>
        </p:blipFill>
        <p:spPr>
          <a:xfrm>
            <a:off x="6447808" y="2034924"/>
            <a:ext cx="5113500" cy="3490800"/>
          </a:xfrm>
          <a:prstGeom prst="roundRect">
            <a:avLst>
              <a:gd fmla="val 2010" name="adj"/>
            </a:avLst>
          </a:prstGeom>
          <a:noFill/>
          <a:ln>
            <a:noFill/>
          </a:ln>
        </p:spPr>
      </p:pic>
      <p:sp>
        <p:nvSpPr>
          <p:cNvPr id="332" name="Google Shape;332;p9"/>
          <p:cNvSpPr/>
          <p:nvPr/>
        </p:nvSpPr>
        <p:spPr>
          <a:xfrm>
            <a:off x="7144024" y="5763447"/>
            <a:ext cx="140340" cy="140340"/>
          </a:xfrm>
          <a:custGeom>
            <a:rect b="b" l="l" r="r" t="t"/>
            <a:pathLst>
              <a:path extrusionOk="0" h="140340" w="140340">
                <a:moveTo>
                  <a:pt x="70170" y="140340"/>
                </a:moveTo>
                <a:cubicBezTo>
                  <a:pt x="108898" y="140340"/>
                  <a:pt x="140340" y="108898"/>
                  <a:pt x="140340" y="70170"/>
                </a:cubicBezTo>
                <a:cubicBezTo>
                  <a:pt x="140340" y="31442"/>
                  <a:pt x="108898" y="0"/>
                  <a:pt x="70170" y="0"/>
                </a:cubicBezTo>
                <a:cubicBezTo>
                  <a:pt x="31442" y="0"/>
                  <a:pt x="0" y="31442"/>
                  <a:pt x="0" y="70170"/>
                </a:cubicBezTo>
                <a:cubicBezTo>
                  <a:pt x="0" y="108898"/>
                  <a:pt x="31442" y="140340"/>
                  <a:pt x="70170" y="140340"/>
                </a:cubicBezTo>
                <a:close/>
                <a:moveTo>
                  <a:pt x="61399" y="43856"/>
                </a:moveTo>
                <a:cubicBezTo>
                  <a:pt x="61399" y="39015"/>
                  <a:pt x="65329" y="35085"/>
                  <a:pt x="70170" y="35085"/>
                </a:cubicBezTo>
                <a:cubicBezTo>
                  <a:pt x="75011" y="35085"/>
                  <a:pt x="78941" y="39015"/>
                  <a:pt x="78941" y="43856"/>
                </a:cubicBezTo>
                <a:cubicBezTo>
                  <a:pt x="78941" y="48697"/>
                  <a:pt x="75011" y="52627"/>
                  <a:pt x="70170" y="52627"/>
                </a:cubicBezTo>
                <a:cubicBezTo>
                  <a:pt x="65329" y="52627"/>
                  <a:pt x="61399" y="48697"/>
                  <a:pt x="61399" y="43856"/>
                </a:cubicBezTo>
                <a:close/>
                <a:moveTo>
                  <a:pt x="59206" y="61399"/>
                </a:moveTo>
                <a:lnTo>
                  <a:pt x="72363" y="61399"/>
                </a:lnTo>
                <a:cubicBezTo>
                  <a:pt x="76008" y="61399"/>
                  <a:pt x="78941" y="64331"/>
                  <a:pt x="78941" y="67977"/>
                </a:cubicBezTo>
                <a:lnTo>
                  <a:pt x="78941" y="92098"/>
                </a:lnTo>
                <a:lnTo>
                  <a:pt x="81134" y="92098"/>
                </a:lnTo>
                <a:cubicBezTo>
                  <a:pt x="84779" y="92098"/>
                  <a:pt x="87712" y="95031"/>
                  <a:pt x="87712" y="98676"/>
                </a:cubicBezTo>
                <a:cubicBezTo>
                  <a:pt x="87712" y="102322"/>
                  <a:pt x="84779" y="105255"/>
                  <a:pt x="81134" y="105255"/>
                </a:cubicBezTo>
                <a:lnTo>
                  <a:pt x="59206" y="105255"/>
                </a:lnTo>
                <a:cubicBezTo>
                  <a:pt x="55560" y="105255"/>
                  <a:pt x="52627" y="102322"/>
                  <a:pt x="52627" y="98676"/>
                </a:cubicBezTo>
                <a:cubicBezTo>
                  <a:pt x="52627" y="95031"/>
                  <a:pt x="55560" y="92098"/>
                  <a:pt x="59206" y="92098"/>
                </a:cubicBezTo>
                <a:lnTo>
                  <a:pt x="65784" y="92098"/>
                </a:lnTo>
                <a:lnTo>
                  <a:pt x="65784" y="74555"/>
                </a:lnTo>
                <a:lnTo>
                  <a:pt x="59206" y="74555"/>
                </a:lnTo>
                <a:cubicBezTo>
                  <a:pt x="55560" y="74555"/>
                  <a:pt x="52627" y="71623"/>
                  <a:pt x="52627" y="67977"/>
                </a:cubicBezTo>
                <a:cubicBezTo>
                  <a:pt x="52627" y="64331"/>
                  <a:pt x="55560" y="61399"/>
                  <a:pt x="59206" y="61399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6496271" y="5732748"/>
            <a:ext cx="5240585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Clean, modern interface designed for non-technical users</a:t>
            </a:r>
            <a:endParaRPr b="0" i="0" sz="1600" u="none" cap="none" strike="noStrike"/>
          </a:p>
        </p:txBody>
      </p:sp>
      <p:sp>
        <p:nvSpPr>
          <p:cNvPr id="334" name="Google Shape;334;p9"/>
          <p:cNvSpPr/>
          <p:nvPr/>
        </p:nvSpPr>
        <p:spPr>
          <a:xfrm>
            <a:off x="6171515" y="6228322"/>
            <a:ext cx="5666210" cy="956063"/>
          </a:xfrm>
          <a:custGeom>
            <a:rect b="b" l="l" r="r" t="t"/>
            <a:pathLst>
              <a:path extrusionOk="0" h="956063" w="5666210">
                <a:moveTo>
                  <a:pt x="70165" y="0"/>
                </a:moveTo>
                <a:lnTo>
                  <a:pt x="5596045" y="0"/>
                </a:lnTo>
                <a:cubicBezTo>
                  <a:pt x="5634796" y="0"/>
                  <a:pt x="5666210" y="31414"/>
                  <a:pt x="5666210" y="70165"/>
                </a:cubicBezTo>
                <a:lnTo>
                  <a:pt x="5666210" y="885898"/>
                </a:lnTo>
                <a:cubicBezTo>
                  <a:pt x="5666210" y="924649"/>
                  <a:pt x="5634796" y="956063"/>
                  <a:pt x="5596045" y="956063"/>
                </a:cubicBezTo>
                <a:lnTo>
                  <a:pt x="70165" y="956063"/>
                </a:lnTo>
                <a:cubicBezTo>
                  <a:pt x="31414" y="956063"/>
                  <a:pt x="0" y="924649"/>
                  <a:pt x="0" y="885898"/>
                </a:cubicBezTo>
                <a:lnTo>
                  <a:pt x="0" y="70165"/>
                </a:lnTo>
                <a:cubicBezTo>
                  <a:pt x="0" y="31440"/>
                  <a:pt x="31440" y="0"/>
                  <a:pt x="70165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30196"/>
                </a:srgbClr>
              </a:gs>
              <a:gs pos="100000">
                <a:srgbClr val="3DCC91">
                  <a:alpha val="10196"/>
                </a:srgbClr>
              </a:gs>
            </a:gsLst>
            <a:lin ang="0" scaled="0"/>
          </a:gradFill>
          <a:ln cap="flat" cmpd="sng" w="12700">
            <a:solidFill>
              <a:srgbClr val="3DCC9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6294312" y="6601099"/>
            <a:ext cx="263137" cy="210509"/>
          </a:xfrm>
          <a:custGeom>
            <a:rect b="b" l="l" r="r" t="t"/>
            <a:pathLst>
              <a:path extrusionOk="0" h="210509" w="263137">
                <a:moveTo>
                  <a:pt x="131568" y="6578"/>
                </a:moveTo>
                <a:cubicBezTo>
                  <a:pt x="155168" y="6578"/>
                  <a:pt x="174328" y="25738"/>
                  <a:pt x="174328" y="49338"/>
                </a:cubicBezTo>
                <a:cubicBezTo>
                  <a:pt x="174328" y="72938"/>
                  <a:pt x="155168" y="92098"/>
                  <a:pt x="131568" y="92098"/>
                </a:cubicBezTo>
                <a:cubicBezTo>
                  <a:pt x="107969" y="92098"/>
                  <a:pt x="88809" y="72938"/>
                  <a:pt x="88809" y="49338"/>
                </a:cubicBezTo>
                <a:cubicBezTo>
                  <a:pt x="88809" y="25738"/>
                  <a:pt x="107969" y="6578"/>
                  <a:pt x="131568" y="6578"/>
                </a:cubicBezTo>
                <a:close/>
                <a:moveTo>
                  <a:pt x="39471" y="36181"/>
                </a:moveTo>
                <a:cubicBezTo>
                  <a:pt x="55809" y="36181"/>
                  <a:pt x="69073" y="49446"/>
                  <a:pt x="69073" y="65784"/>
                </a:cubicBezTo>
                <a:cubicBezTo>
                  <a:pt x="69073" y="82122"/>
                  <a:pt x="55809" y="95387"/>
                  <a:pt x="39471" y="95387"/>
                </a:cubicBezTo>
                <a:cubicBezTo>
                  <a:pt x="23132" y="95387"/>
                  <a:pt x="9868" y="82122"/>
                  <a:pt x="9868" y="65784"/>
                </a:cubicBezTo>
                <a:cubicBezTo>
                  <a:pt x="9868" y="49446"/>
                  <a:pt x="23132" y="36181"/>
                  <a:pt x="39471" y="36181"/>
                </a:cubicBezTo>
                <a:close/>
                <a:moveTo>
                  <a:pt x="0" y="171039"/>
                </a:moveTo>
                <a:cubicBezTo>
                  <a:pt x="0" y="141970"/>
                  <a:pt x="23559" y="118412"/>
                  <a:pt x="52627" y="118412"/>
                </a:cubicBezTo>
                <a:cubicBezTo>
                  <a:pt x="57890" y="118412"/>
                  <a:pt x="62988" y="119193"/>
                  <a:pt x="67799" y="120632"/>
                </a:cubicBezTo>
                <a:cubicBezTo>
                  <a:pt x="54272" y="135762"/>
                  <a:pt x="46049" y="155744"/>
                  <a:pt x="46049" y="177617"/>
                </a:cubicBezTo>
                <a:lnTo>
                  <a:pt x="46049" y="184196"/>
                </a:lnTo>
                <a:cubicBezTo>
                  <a:pt x="46049" y="188883"/>
                  <a:pt x="47036" y="193323"/>
                  <a:pt x="48804" y="197353"/>
                </a:cubicBezTo>
                <a:lnTo>
                  <a:pt x="13157" y="197353"/>
                </a:lnTo>
                <a:cubicBezTo>
                  <a:pt x="5879" y="197353"/>
                  <a:pt x="0" y="191473"/>
                  <a:pt x="0" y="184196"/>
                </a:cubicBezTo>
                <a:lnTo>
                  <a:pt x="0" y="171039"/>
                </a:lnTo>
                <a:close/>
                <a:moveTo>
                  <a:pt x="214333" y="197353"/>
                </a:moveTo>
                <a:cubicBezTo>
                  <a:pt x="216101" y="193323"/>
                  <a:pt x="217088" y="188883"/>
                  <a:pt x="217088" y="184196"/>
                </a:cubicBezTo>
                <a:lnTo>
                  <a:pt x="217088" y="177617"/>
                </a:lnTo>
                <a:cubicBezTo>
                  <a:pt x="217088" y="155744"/>
                  <a:pt x="208865" y="135762"/>
                  <a:pt x="195338" y="120632"/>
                </a:cubicBezTo>
                <a:cubicBezTo>
                  <a:pt x="200148" y="119193"/>
                  <a:pt x="205247" y="118412"/>
                  <a:pt x="210509" y="118412"/>
                </a:cubicBezTo>
                <a:cubicBezTo>
                  <a:pt x="239578" y="118412"/>
                  <a:pt x="263137" y="141970"/>
                  <a:pt x="263137" y="171039"/>
                </a:cubicBezTo>
                <a:lnTo>
                  <a:pt x="263137" y="184196"/>
                </a:lnTo>
                <a:cubicBezTo>
                  <a:pt x="263137" y="191473"/>
                  <a:pt x="257257" y="197353"/>
                  <a:pt x="249980" y="197353"/>
                </a:cubicBezTo>
                <a:lnTo>
                  <a:pt x="214333" y="197353"/>
                </a:lnTo>
                <a:close/>
                <a:moveTo>
                  <a:pt x="194063" y="65784"/>
                </a:moveTo>
                <a:cubicBezTo>
                  <a:pt x="194063" y="49446"/>
                  <a:pt x="207328" y="36181"/>
                  <a:pt x="223666" y="36181"/>
                </a:cubicBezTo>
                <a:cubicBezTo>
                  <a:pt x="240004" y="36181"/>
                  <a:pt x="253269" y="49446"/>
                  <a:pt x="253269" y="65784"/>
                </a:cubicBezTo>
                <a:cubicBezTo>
                  <a:pt x="253269" y="82122"/>
                  <a:pt x="240004" y="95387"/>
                  <a:pt x="223666" y="95387"/>
                </a:cubicBezTo>
                <a:cubicBezTo>
                  <a:pt x="207328" y="95387"/>
                  <a:pt x="194063" y="82122"/>
                  <a:pt x="194063" y="65784"/>
                </a:cubicBezTo>
                <a:close/>
                <a:moveTo>
                  <a:pt x="65784" y="177617"/>
                </a:moveTo>
                <a:cubicBezTo>
                  <a:pt x="65784" y="141272"/>
                  <a:pt x="95223" y="111833"/>
                  <a:pt x="131568" y="111833"/>
                </a:cubicBezTo>
                <a:cubicBezTo>
                  <a:pt x="167914" y="111833"/>
                  <a:pt x="197353" y="141272"/>
                  <a:pt x="197353" y="177617"/>
                </a:cubicBezTo>
                <a:lnTo>
                  <a:pt x="197353" y="184196"/>
                </a:lnTo>
                <a:cubicBezTo>
                  <a:pt x="197353" y="191473"/>
                  <a:pt x="191473" y="197353"/>
                  <a:pt x="184196" y="197353"/>
                </a:cubicBezTo>
                <a:lnTo>
                  <a:pt x="78941" y="197353"/>
                </a:lnTo>
                <a:cubicBezTo>
                  <a:pt x="71664" y="197353"/>
                  <a:pt x="65784" y="191473"/>
                  <a:pt x="65784" y="184196"/>
                </a:cubicBezTo>
                <a:lnTo>
                  <a:pt x="65784" y="177617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6636458" y="6373047"/>
            <a:ext cx="5131165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Audience</a:t>
            </a:r>
            <a:endParaRPr b="0" i="0" sz="1600" u="none" cap="none" strike="noStrike"/>
          </a:p>
        </p:txBody>
      </p:sp>
      <p:sp>
        <p:nvSpPr>
          <p:cNvPr id="337" name="Google Shape;337;p9"/>
          <p:cNvSpPr/>
          <p:nvPr/>
        </p:nvSpPr>
        <p:spPr>
          <a:xfrm>
            <a:off x="6636458" y="6618642"/>
            <a:ext cx="5131165" cy="421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Non-technical business founders</a:t>
            </a: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who need actionable location insights without data science expertise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"/>
          <p:cNvSpPr/>
          <p:nvPr/>
        </p:nvSpPr>
        <p:spPr>
          <a:xfrm>
            <a:off x="381000" y="466725"/>
            <a:ext cx="76200" cy="457200"/>
          </a:xfrm>
          <a:custGeom>
            <a:rect b="b" l="l" r="r" t="t"/>
            <a:pathLst>
              <a:path extrusionOk="0" h="457200" w="76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344" name="Google Shape;344;p10"/>
          <p:cNvSpPr/>
          <p:nvPr/>
        </p:nvSpPr>
        <p:spPr>
          <a:xfrm>
            <a:off x="571500" y="381000"/>
            <a:ext cx="4486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COMMERCIAL FEASIBILITY</a:t>
            </a:r>
            <a:endParaRPr b="0" i="0" sz="1600" u="none" cap="none" strike="noStrike"/>
          </a:p>
        </p:txBody>
      </p:sp>
      <p:sp>
        <p:nvSpPr>
          <p:cNvPr id="345" name="Google Shape;345;p10"/>
          <p:cNvSpPr/>
          <p:nvPr/>
        </p:nvSpPr>
        <p:spPr>
          <a:xfrm>
            <a:off x="571500" y="628650"/>
            <a:ext cx="45815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Market Value &amp; Future Scope</a:t>
            </a:r>
            <a:endParaRPr b="0" i="0" sz="1600" u="none" cap="none" strike="noStrike"/>
          </a:p>
        </p:txBody>
      </p:sp>
      <p:sp>
        <p:nvSpPr>
          <p:cNvPr id="346" name="Google Shape;346;p10"/>
          <p:cNvSpPr/>
          <p:nvPr/>
        </p:nvSpPr>
        <p:spPr>
          <a:xfrm>
            <a:off x="571500" y="1047750"/>
            <a:ext cx="11325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Scalability, immediate value, and roadmap for growth</a:t>
            </a:r>
            <a:endParaRPr b="0" i="0" sz="1600" u="none" cap="none" strike="noStrike"/>
          </a:p>
        </p:txBody>
      </p:sp>
      <p:sp>
        <p:nvSpPr>
          <p:cNvPr id="347" name="Google Shape;347;p10"/>
          <p:cNvSpPr/>
          <p:nvPr/>
        </p:nvSpPr>
        <p:spPr>
          <a:xfrm>
            <a:off x="385763" y="1395413"/>
            <a:ext cx="5648325" cy="2238375"/>
          </a:xfrm>
          <a:custGeom>
            <a:rect b="b" l="l" r="r" t="t"/>
            <a:pathLst>
              <a:path extrusionOk="0" h="2238375" w="5648325">
                <a:moveTo>
                  <a:pt x="76194" y="0"/>
                </a:moveTo>
                <a:lnTo>
                  <a:pt x="5572131" y="0"/>
                </a:lnTo>
                <a:cubicBezTo>
                  <a:pt x="5614183" y="0"/>
                  <a:pt x="5648325" y="34142"/>
                  <a:pt x="5648325" y="76194"/>
                </a:cubicBezTo>
                <a:lnTo>
                  <a:pt x="5648325" y="2162181"/>
                </a:lnTo>
                <a:cubicBezTo>
                  <a:pt x="5648325" y="2204262"/>
                  <a:pt x="5614212" y="2238375"/>
                  <a:pt x="5572131" y="2238375"/>
                </a:cubicBezTo>
                <a:lnTo>
                  <a:pt x="76194" y="2238375"/>
                </a:lnTo>
                <a:cubicBezTo>
                  <a:pt x="34142" y="2238375"/>
                  <a:pt x="0" y="2204233"/>
                  <a:pt x="0" y="21621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3DCC9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504825" y="15144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661988" y="1628775"/>
            <a:ext cx="142875" cy="228600"/>
          </a:xfrm>
          <a:custGeom>
            <a:rect b="b" l="l" r="r" t="t"/>
            <a:pathLst>
              <a:path extrusionOk="0" h="228600" w="142875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1076325" y="1590675"/>
            <a:ext cx="1800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Immediate Value</a:t>
            </a:r>
            <a:endParaRPr b="0" i="0" sz="1600" u="none" cap="none" strike="noStrike"/>
          </a:p>
        </p:txBody>
      </p:sp>
      <p:sp>
        <p:nvSpPr>
          <p:cNvPr id="351" name="Google Shape;351;p10"/>
          <p:cNvSpPr/>
          <p:nvPr/>
        </p:nvSpPr>
        <p:spPr>
          <a:xfrm>
            <a:off x="504825" y="2047875"/>
            <a:ext cx="548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Startup Spot </a:t>
            </a: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delivers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tangible value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by protecting founders from opening in dead zones or saturated markets.</a:t>
            </a:r>
            <a:endParaRPr b="0" i="0" sz="1600" u="none" cap="none" strike="noStrike"/>
          </a:p>
        </p:txBody>
      </p:sp>
      <p:sp>
        <p:nvSpPr>
          <p:cNvPr id="352" name="Google Shape;352;p10"/>
          <p:cNvSpPr/>
          <p:nvPr/>
        </p:nvSpPr>
        <p:spPr>
          <a:xfrm>
            <a:off x="504825" y="2619375"/>
            <a:ext cx="2667000" cy="895350"/>
          </a:xfrm>
          <a:custGeom>
            <a:rect b="b" l="l" r="r" t="t"/>
            <a:pathLst>
              <a:path extrusionOk="0" h="895350" w="2667000">
                <a:moveTo>
                  <a:pt x="76203" y="0"/>
                </a:moveTo>
                <a:lnTo>
                  <a:pt x="2590797" y="0"/>
                </a:lnTo>
                <a:cubicBezTo>
                  <a:pt x="2632883" y="0"/>
                  <a:pt x="2667000" y="34117"/>
                  <a:pt x="2667000" y="76203"/>
                </a:cubicBezTo>
                <a:lnTo>
                  <a:pt x="2667000" y="819147"/>
                </a:lnTo>
                <a:cubicBezTo>
                  <a:pt x="2667000" y="861233"/>
                  <a:pt x="2632883" y="895350"/>
                  <a:pt x="259079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1743075" y="2695575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538163" y="2924175"/>
            <a:ext cx="2600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De-risk</a:t>
            </a:r>
            <a:endParaRPr b="0" i="0" sz="1600" u="none" cap="none" strike="noStrike"/>
          </a:p>
        </p:txBody>
      </p:sp>
      <p:sp>
        <p:nvSpPr>
          <p:cNvPr id="355" name="Google Shape;355;p10"/>
          <p:cNvSpPr/>
          <p:nvPr/>
        </p:nvSpPr>
        <p:spPr>
          <a:xfrm>
            <a:off x="542925" y="3209925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Investments</a:t>
            </a:r>
            <a:endParaRPr b="0" i="0" sz="1600" u="none" cap="none" strike="noStrike"/>
          </a:p>
        </p:txBody>
      </p:sp>
      <p:sp>
        <p:nvSpPr>
          <p:cNvPr id="356" name="Google Shape;356;p10"/>
          <p:cNvSpPr/>
          <p:nvPr/>
        </p:nvSpPr>
        <p:spPr>
          <a:xfrm>
            <a:off x="3248025" y="2619375"/>
            <a:ext cx="2667000" cy="895350"/>
          </a:xfrm>
          <a:custGeom>
            <a:rect b="b" l="l" r="r" t="t"/>
            <a:pathLst>
              <a:path extrusionOk="0" h="895350" w="2667000">
                <a:moveTo>
                  <a:pt x="76203" y="0"/>
                </a:moveTo>
                <a:lnTo>
                  <a:pt x="2590797" y="0"/>
                </a:lnTo>
                <a:cubicBezTo>
                  <a:pt x="2632883" y="0"/>
                  <a:pt x="2667000" y="34117"/>
                  <a:pt x="2667000" y="76203"/>
                </a:cubicBezTo>
                <a:lnTo>
                  <a:pt x="2667000" y="819147"/>
                </a:lnTo>
                <a:cubicBezTo>
                  <a:pt x="2667000" y="861233"/>
                  <a:pt x="2632883" y="895350"/>
                  <a:pt x="259079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4486275" y="2695575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3281363" y="2924175"/>
            <a:ext cx="2600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Increase</a:t>
            </a:r>
            <a:endParaRPr b="0" i="0" sz="1600" u="none" cap="none" strike="noStrike"/>
          </a:p>
        </p:txBody>
      </p:sp>
      <p:sp>
        <p:nvSpPr>
          <p:cNvPr id="359" name="Google Shape;359;p10"/>
          <p:cNvSpPr/>
          <p:nvPr/>
        </p:nvSpPr>
        <p:spPr>
          <a:xfrm>
            <a:off x="3286125" y="3209925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Success Rate</a:t>
            </a:r>
            <a:endParaRPr b="0" i="0" sz="1600" u="none" cap="none" strike="noStrike"/>
          </a:p>
        </p:txBody>
      </p:sp>
      <p:sp>
        <p:nvSpPr>
          <p:cNvPr id="360" name="Google Shape;360;p10"/>
          <p:cNvSpPr/>
          <p:nvPr/>
        </p:nvSpPr>
        <p:spPr>
          <a:xfrm>
            <a:off x="381000" y="3752850"/>
            <a:ext cx="5657850" cy="2724150"/>
          </a:xfrm>
          <a:custGeom>
            <a:rect b="b" l="l" r="r" t="t"/>
            <a:pathLst>
              <a:path extrusionOk="0" h="2724150" w="5657850">
                <a:moveTo>
                  <a:pt x="76194" y="0"/>
                </a:moveTo>
                <a:lnTo>
                  <a:pt x="5581656" y="0"/>
                </a:lnTo>
                <a:cubicBezTo>
                  <a:pt x="5623737" y="0"/>
                  <a:pt x="5657850" y="34113"/>
                  <a:pt x="5657850" y="76194"/>
                </a:cubicBezTo>
                <a:lnTo>
                  <a:pt x="5657850" y="2647956"/>
                </a:lnTo>
                <a:cubicBezTo>
                  <a:pt x="5657850" y="2690037"/>
                  <a:pt x="5623737" y="2724150"/>
                  <a:pt x="5581656" y="2724150"/>
                </a:cubicBezTo>
                <a:lnTo>
                  <a:pt x="76194" y="2724150"/>
                </a:lnTo>
                <a:cubicBezTo>
                  <a:pt x="34113" y="2724150"/>
                  <a:pt x="0" y="2690037"/>
                  <a:pt x="0" y="264795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519113" y="3905250"/>
            <a:ext cx="190500" cy="190500"/>
          </a:xfrm>
          <a:custGeom>
            <a:rect b="b" l="l" r="r" t="t"/>
            <a:pathLst>
              <a:path extrusionOk="0" h="190500" w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733425" y="3867150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Global Scalability (</a:t>
            </a:r>
            <a:r>
              <a:rPr b="1" lang="en-US" sz="1500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C</a:t>
            </a: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oming</a:t>
            </a:r>
            <a:r>
              <a:rPr b="1" lang="en-US" sz="1500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 Soon)</a:t>
            </a:r>
            <a:endParaRPr b="0" i="0" sz="1600" u="none" cap="none" strike="noStrike"/>
          </a:p>
        </p:txBody>
      </p:sp>
      <p:sp>
        <p:nvSpPr>
          <p:cNvPr id="363" name="Google Shape;363;p10"/>
          <p:cNvSpPr/>
          <p:nvPr/>
        </p:nvSpPr>
        <p:spPr>
          <a:xfrm>
            <a:off x="495300" y="4210050"/>
            <a:ext cx="5429250" cy="628650"/>
          </a:xfrm>
          <a:custGeom>
            <a:rect b="b" l="l" r="r" t="t"/>
            <a:pathLst>
              <a:path extrusionOk="0" h="628650" w="5429250">
                <a:moveTo>
                  <a:pt x="76199" y="0"/>
                </a:moveTo>
                <a:lnTo>
                  <a:pt x="5353051" y="0"/>
                </a:lnTo>
                <a:cubicBezTo>
                  <a:pt x="5395135" y="0"/>
                  <a:pt x="5429250" y="34115"/>
                  <a:pt x="5429250" y="76199"/>
                </a:cubicBezTo>
                <a:lnTo>
                  <a:pt x="5429250" y="552451"/>
                </a:lnTo>
                <a:cubicBezTo>
                  <a:pt x="5429250" y="594535"/>
                  <a:pt x="5395135" y="628650"/>
                  <a:pt x="5353051" y="628650"/>
                </a:cubicBezTo>
                <a:lnTo>
                  <a:pt x="76199" y="628650"/>
                </a:lnTo>
                <a:cubicBezTo>
                  <a:pt x="34115" y="628650"/>
                  <a:pt x="0" y="594535"/>
                  <a:pt x="0" y="5524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606028" y="4324350"/>
            <a:ext cx="150019" cy="171450"/>
          </a:xfrm>
          <a:custGeom>
            <a:rect b="b" l="l" r="r" t="t"/>
            <a:pathLst>
              <a:path extrusionOk="0" h="171450" w="150019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900113" y="4286250"/>
            <a:ext cx="4124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 Foundation</a:t>
            </a:r>
            <a:endParaRPr b="0" i="0" sz="1600" u="none" cap="none" strike="noStrike"/>
          </a:p>
        </p:txBody>
      </p:sp>
      <p:sp>
        <p:nvSpPr>
          <p:cNvPr id="366" name="Google Shape;366;p10"/>
          <p:cNvSpPr/>
          <p:nvPr/>
        </p:nvSpPr>
        <p:spPr>
          <a:xfrm>
            <a:off x="900126" y="4533900"/>
            <a:ext cx="44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on Foursquare's global location dataset with 100M+ </a:t>
            </a: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points</a:t>
            </a:r>
            <a:endParaRPr b="0" i="0" sz="1600" u="none" cap="none" strike="noStrike"/>
          </a:p>
        </p:txBody>
      </p:sp>
      <p:sp>
        <p:nvSpPr>
          <p:cNvPr id="367" name="Google Shape;367;p10"/>
          <p:cNvSpPr/>
          <p:nvPr/>
        </p:nvSpPr>
        <p:spPr>
          <a:xfrm>
            <a:off x="495300" y="4914900"/>
            <a:ext cx="5429250" cy="628650"/>
          </a:xfrm>
          <a:custGeom>
            <a:rect b="b" l="l" r="r" t="t"/>
            <a:pathLst>
              <a:path extrusionOk="0" h="628650" w="5429250">
                <a:moveTo>
                  <a:pt x="76199" y="0"/>
                </a:moveTo>
                <a:lnTo>
                  <a:pt x="5353051" y="0"/>
                </a:lnTo>
                <a:cubicBezTo>
                  <a:pt x="5395135" y="0"/>
                  <a:pt x="5429250" y="34115"/>
                  <a:pt x="5429250" y="76199"/>
                </a:cubicBezTo>
                <a:lnTo>
                  <a:pt x="5429250" y="552451"/>
                </a:lnTo>
                <a:cubicBezTo>
                  <a:pt x="5429250" y="594535"/>
                  <a:pt x="5395135" y="628650"/>
                  <a:pt x="5353051" y="628650"/>
                </a:cubicBezTo>
                <a:lnTo>
                  <a:pt x="76199" y="628650"/>
                </a:lnTo>
                <a:cubicBezTo>
                  <a:pt x="34115" y="628650"/>
                  <a:pt x="0" y="594535"/>
                  <a:pt x="0" y="5524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584597" y="5029200"/>
            <a:ext cx="192881" cy="171450"/>
          </a:xfrm>
          <a:custGeom>
            <a:rect b="b" l="l" r="r" t="t"/>
            <a:pathLst>
              <a:path extrusionOk="0" h="171450" w="192881">
                <a:moveTo>
                  <a:pt x="107156" y="0"/>
                </a:moveTo>
                <a:cubicBezTo>
                  <a:pt x="95336" y="0"/>
                  <a:pt x="85725" y="9611"/>
                  <a:pt x="85725" y="21431"/>
                </a:cubicBezTo>
                <a:lnTo>
                  <a:pt x="85725" y="32147"/>
                </a:lnTo>
                <a:lnTo>
                  <a:pt x="69652" y="32147"/>
                </a:lnTo>
                <a:lnTo>
                  <a:pt x="69652" y="8037"/>
                </a:lnTo>
                <a:cubicBezTo>
                  <a:pt x="69652" y="3583"/>
                  <a:pt x="66069" y="0"/>
                  <a:pt x="61615" y="0"/>
                </a:cubicBezTo>
                <a:cubicBezTo>
                  <a:pt x="57161" y="0"/>
                  <a:pt x="53578" y="3583"/>
                  <a:pt x="53578" y="8037"/>
                </a:cubicBezTo>
                <a:lnTo>
                  <a:pt x="53578" y="32147"/>
                </a:lnTo>
                <a:lnTo>
                  <a:pt x="32147" y="32147"/>
                </a:lnTo>
                <a:lnTo>
                  <a:pt x="32147" y="8037"/>
                </a:lnTo>
                <a:cubicBezTo>
                  <a:pt x="32147" y="3583"/>
                  <a:pt x="28564" y="0"/>
                  <a:pt x="24110" y="0"/>
                </a:cubicBezTo>
                <a:cubicBezTo>
                  <a:pt x="19656" y="0"/>
                  <a:pt x="16073" y="3583"/>
                  <a:pt x="16073" y="8037"/>
                </a:cubicBezTo>
                <a:lnTo>
                  <a:pt x="16073" y="32817"/>
                </a:lnTo>
                <a:cubicBezTo>
                  <a:pt x="6831" y="35194"/>
                  <a:pt x="0" y="43599"/>
                  <a:pt x="0" y="53578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71450" y="171450"/>
                </a:lnTo>
                <a:cubicBezTo>
                  <a:pt x="183271" y="171450"/>
                  <a:pt x="192881" y="161839"/>
                  <a:pt x="192881" y="150019"/>
                </a:cubicBezTo>
                <a:lnTo>
                  <a:pt x="192881" y="85725"/>
                </a:lnTo>
                <a:cubicBezTo>
                  <a:pt x="192881" y="73904"/>
                  <a:pt x="183271" y="64294"/>
                  <a:pt x="171450" y="64294"/>
                </a:cubicBezTo>
                <a:lnTo>
                  <a:pt x="150019" y="64294"/>
                </a:lnTo>
                <a:lnTo>
                  <a:pt x="150019" y="21431"/>
                </a:lnTo>
                <a:cubicBezTo>
                  <a:pt x="150019" y="9611"/>
                  <a:pt x="140408" y="0"/>
                  <a:pt x="128588" y="0"/>
                </a:cubicBezTo>
                <a:lnTo>
                  <a:pt x="107156" y="0"/>
                </a:lnTo>
                <a:close/>
                <a:moveTo>
                  <a:pt x="128588" y="37505"/>
                </a:moveTo>
                <a:lnTo>
                  <a:pt x="128588" y="48220"/>
                </a:lnTo>
                <a:cubicBezTo>
                  <a:pt x="128588" y="51167"/>
                  <a:pt x="126176" y="53578"/>
                  <a:pt x="123230" y="53578"/>
                </a:cubicBezTo>
                <a:lnTo>
                  <a:pt x="112514" y="53578"/>
                </a:lnTo>
                <a:cubicBezTo>
                  <a:pt x="109567" y="53578"/>
                  <a:pt x="107156" y="51167"/>
                  <a:pt x="107156" y="48220"/>
                </a:cubicBezTo>
                <a:lnTo>
                  <a:pt x="107156" y="37505"/>
                </a:lnTo>
                <a:cubicBezTo>
                  <a:pt x="107156" y="34558"/>
                  <a:pt x="109567" y="32147"/>
                  <a:pt x="112514" y="32147"/>
                </a:cubicBezTo>
                <a:lnTo>
                  <a:pt x="123230" y="32147"/>
                </a:lnTo>
                <a:cubicBezTo>
                  <a:pt x="126176" y="32147"/>
                  <a:pt x="128588" y="34558"/>
                  <a:pt x="128588" y="37505"/>
                </a:cubicBezTo>
                <a:close/>
                <a:moveTo>
                  <a:pt x="123230" y="64294"/>
                </a:moveTo>
                <a:cubicBezTo>
                  <a:pt x="126176" y="64294"/>
                  <a:pt x="128588" y="66705"/>
                  <a:pt x="128588" y="69652"/>
                </a:cubicBezTo>
                <a:lnTo>
                  <a:pt x="128588" y="80367"/>
                </a:lnTo>
                <a:cubicBezTo>
                  <a:pt x="128588" y="83314"/>
                  <a:pt x="126176" y="85725"/>
                  <a:pt x="123230" y="85725"/>
                </a:cubicBezTo>
                <a:lnTo>
                  <a:pt x="112514" y="85725"/>
                </a:lnTo>
                <a:cubicBezTo>
                  <a:pt x="109567" y="85725"/>
                  <a:pt x="107156" y="83314"/>
                  <a:pt x="107156" y="80367"/>
                </a:cubicBezTo>
                <a:lnTo>
                  <a:pt x="107156" y="69652"/>
                </a:lnTo>
                <a:cubicBezTo>
                  <a:pt x="107156" y="66705"/>
                  <a:pt x="109567" y="64294"/>
                  <a:pt x="112514" y="64294"/>
                </a:cubicBezTo>
                <a:lnTo>
                  <a:pt x="123230" y="64294"/>
                </a:lnTo>
                <a:close/>
                <a:moveTo>
                  <a:pt x="128588" y="101798"/>
                </a:moveTo>
                <a:lnTo>
                  <a:pt x="128588" y="112514"/>
                </a:lnTo>
                <a:cubicBezTo>
                  <a:pt x="128588" y="115461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15461"/>
                  <a:pt x="107156" y="112514"/>
                </a:cubicBezTo>
                <a:lnTo>
                  <a:pt x="107156" y="101798"/>
                </a:lnTo>
                <a:cubicBezTo>
                  <a:pt x="107156" y="98852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8852"/>
                  <a:pt x="128588" y="101798"/>
                </a:cubicBezTo>
                <a:close/>
                <a:moveTo>
                  <a:pt x="166092" y="96441"/>
                </a:moveTo>
                <a:cubicBezTo>
                  <a:pt x="169039" y="96441"/>
                  <a:pt x="171450" y="98852"/>
                  <a:pt x="171450" y="101798"/>
                </a:cubicBezTo>
                <a:lnTo>
                  <a:pt x="171450" y="112514"/>
                </a:lnTo>
                <a:cubicBezTo>
                  <a:pt x="171450" y="115461"/>
                  <a:pt x="169039" y="117872"/>
                  <a:pt x="166092" y="117872"/>
                </a:cubicBezTo>
                <a:lnTo>
                  <a:pt x="155377" y="117872"/>
                </a:lnTo>
                <a:cubicBezTo>
                  <a:pt x="152430" y="117872"/>
                  <a:pt x="150019" y="115461"/>
                  <a:pt x="150019" y="112514"/>
                </a:cubicBezTo>
                <a:lnTo>
                  <a:pt x="150019" y="101798"/>
                </a:lnTo>
                <a:cubicBezTo>
                  <a:pt x="150019" y="98852"/>
                  <a:pt x="152430" y="96441"/>
                  <a:pt x="155377" y="96441"/>
                </a:cubicBezTo>
                <a:lnTo>
                  <a:pt x="166092" y="96441"/>
                </a:lnTo>
                <a:close/>
                <a:moveTo>
                  <a:pt x="85725" y="101798"/>
                </a:moveTo>
                <a:lnTo>
                  <a:pt x="85725" y="112514"/>
                </a:lnTo>
                <a:cubicBezTo>
                  <a:pt x="85725" y="115461"/>
                  <a:pt x="83314" y="117872"/>
                  <a:pt x="80367" y="117872"/>
                </a:cubicBezTo>
                <a:lnTo>
                  <a:pt x="69652" y="117872"/>
                </a:lnTo>
                <a:cubicBezTo>
                  <a:pt x="66705" y="117872"/>
                  <a:pt x="64294" y="115461"/>
                  <a:pt x="64294" y="112514"/>
                </a:cubicBezTo>
                <a:lnTo>
                  <a:pt x="64294" y="101798"/>
                </a:lnTo>
                <a:cubicBezTo>
                  <a:pt x="64294" y="98852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8852"/>
                  <a:pt x="85725" y="101798"/>
                </a:cubicBezTo>
                <a:close/>
                <a:moveTo>
                  <a:pt x="80367" y="64294"/>
                </a:moveTo>
                <a:cubicBezTo>
                  <a:pt x="83314" y="64294"/>
                  <a:pt x="85725" y="66705"/>
                  <a:pt x="85725" y="69652"/>
                </a:cubicBezTo>
                <a:lnTo>
                  <a:pt x="85725" y="80367"/>
                </a:lnTo>
                <a:cubicBezTo>
                  <a:pt x="85725" y="83314"/>
                  <a:pt x="83314" y="85725"/>
                  <a:pt x="80367" y="85725"/>
                </a:cubicBezTo>
                <a:lnTo>
                  <a:pt x="69652" y="85725"/>
                </a:lnTo>
                <a:cubicBezTo>
                  <a:pt x="66705" y="85725"/>
                  <a:pt x="64294" y="83314"/>
                  <a:pt x="64294" y="80367"/>
                </a:cubicBezTo>
                <a:lnTo>
                  <a:pt x="64294" y="69652"/>
                </a:lnTo>
                <a:cubicBezTo>
                  <a:pt x="64294" y="66705"/>
                  <a:pt x="66705" y="64294"/>
                  <a:pt x="69652" y="64294"/>
                </a:cubicBezTo>
                <a:lnTo>
                  <a:pt x="80367" y="64294"/>
                </a:lnTo>
                <a:close/>
                <a:moveTo>
                  <a:pt x="42863" y="101798"/>
                </a:moveTo>
                <a:lnTo>
                  <a:pt x="42863" y="112514"/>
                </a:lnTo>
                <a:cubicBezTo>
                  <a:pt x="42863" y="115461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15461"/>
                  <a:pt x="21431" y="112514"/>
                </a:cubicBezTo>
                <a:lnTo>
                  <a:pt x="21431" y="101798"/>
                </a:lnTo>
                <a:cubicBezTo>
                  <a:pt x="21431" y="98852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8852"/>
                  <a:pt x="42863" y="101798"/>
                </a:cubicBezTo>
                <a:close/>
                <a:moveTo>
                  <a:pt x="37505" y="64294"/>
                </a:moveTo>
                <a:cubicBezTo>
                  <a:pt x="40451" y="64294"/>
                  <a:pt x="42863" y="66705"/>
                  <a:pt x="42863" y="69652"/>
                </a:cubicBezTo>
                <a:lnTo>
                  <a:pt x="42863" y="80367"/>
                </a:lnTo>
                <a:cubicBezTo>
                  <a:pt x="42863" y="83314"/>
                  <a:pt x="40451" y="85725"/>
                  <a:pt x="37505" y="85725"/>
                </a:cubicBezTo>
                <a:lnTo>
                  <a:pt x="26789" y="85725"/>
                </a:lnTo>
                <a:cubicBezTo>
                  <a:pt x="23842" y="85725"/>
                  <a:pt x="21431" y="83314"/>
                  <a:pt x="21431" y="80367"/>
                </a:cubicBezTo>
                <a:lnTo>
                  <a:pt x="21431" y="69652"/>
                </a:lnTo>
                <a:cubicBezTo>
                  <a:pt x="21431" y="66705"/>
                  <a:pt x="23842" y="64294"/>
                  <a:pt x="26789" y="64294"/>
                </a:cubicBezTo>
                <a:lnTo>
                  <a:pt x="37505" y="64294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900113" y="4991100"/>
            <a:ext cx="4010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Any City, Any Country</a:t>
            </a:r>
            <a:endParaRPr b="0" i="0" sz="1600" u="none" cap="none" strike="noStrike"/>
          </a:p>
        </p:txBody>
      </p:sp>
      <p:sp>
        <p:nvSpPr>
          <p:cNvPr id="370" name="Google Shape;370;p10"/>
          <p:cNvSpPr/>
          <p:nvPr/>
        </p:nvSpPr>
        <p:spPr>
          <a:xfrm>
            <a:off x="900113" y="5238750"/>
            <a:ext cx="4010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Algorithm works with coordinate and category data globally</a:t>
            </a:r>
            <a:endParaRPr b="0" i="0" sz="1600" u="none" cap="none" strike="noStrike"/>
          </a:p>
        </p:txBody>
      </p:sp>
      <p:sp>
        <p:nvSpPr>
          <p:cNvPr id="371" name="Google Shape;371;p10"/>
          <p:cNvSpPr/>
          <p:nvPr/>
        </p:nvSpPr>
        <p:spPr>
          <a:xfrm>
            <a:off x="495300" y="5619750"/>
            <a:ext cx="5429250" cy="628650"/>
          </a:xfrm>
          <a:custGeom>
            <a:rect b="b" l="l" r="r" t="t"/>
            <a:pathLst>
              <a:path extrusionOk="0" h="628650" w="5429250">
                <a:moveTo>
                  <a:pt x="76199" y="0"/>
                </a:moveTo>
                <a:lnTo>
                  <a:pt x="5353051" y="0"/>
                </a:lnTo>
                <a:cubicBezTo>
                  <a:pt x="5395135" y="0"/>
                  <a:pt x="5429250" y="34115"/>
                  <a:pt x="5429250" y="76199"/>
                </a:cubicBezTo>
                <a:lnTo>
                  <a:pt x="5429250" y="552451"/>
                </a:lnTo>
                <a:cubicBezTo>
                  <a:pt x="5429250" y="594535"/>
                  <a:pt x="5395135" y="628650"/>
                  <a:pt x="5353051" y="628650"/>
                </a:cubicBezTo>
                <a:lnTo>
                  <a:pt x="76199" y="628650"/>
                </a:lnTo>
                <a:cubicBezTo>
                  <a:pt x="34115" y="628650"/>
                  <a:pt x="0" y="594535"/>
                  <a:pt x="0" y="5524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606028" y="5734050"/>
            <a:ext cx="150019" cy="171450"/>
          </a:xfrm>
          <a:custGeom>
            <a:rect b="b" l="l" r="r" t="t"/>
            <a:pathLst>
              <a:path extrusionOk="0" h="171450" w="150019">
                <a:moveTo>
                  <a:pt x="56257" y="10716"/>
                </a:moveTo>
                <a:lnTo>
                  <a:pt x="8037" y="10716"/>
                </a:lnTo>
                <a:cubicBezTo>
                  <a:pt x="3583" y="10716"/>
                  <a:pt x="0" y="14299"/>
                  <a:pt x="0" y="18752"/>
                </a:cubicBezTo>
                <a:lnTo>
                  <a:pt x="0" y="66973"/>
                </a:lnTo>
                <a:cubicBezTo>
                  <a:pt x="0" y="70221"/>
                  <a:pt x="1942" y="73168"/>
                  <a:pt x="4956" y="74407"/>
                </a:cubicBezTo>
                <a:cubicBezTo>
                  <a:pt x="7970" y="75646"/>
                  <a:pt x="11419" y="74942"/>
                  <a:pt x="13729" y="72665"/>
                </a:cubicBezTo>
                <a:lnTo>
                  <a:pt x="27124" y="59271"/>
                </a:lnTo>
                <a:lnTo>
                  <a:pt x="53578" y="85725"/>
                </a:lnTo>
                <a:lnTo>
                  <a:pt x="27124" y="112179"/>
                </a:lnTo>
                <a:lnTo>
                  <a:pt x="13729" y="98785"/>
                </a:lnTo>
                <a:cubicBezTo>
                  <a:pt x="11419" y="96474"/>
                  <a:pt x="7970" y="95804"/>
                  <a:pt x="4956" y="97043"/>
                </a:cubicBezTo>
                <a:cubicBezTo>
                  <a:pt x="1942" y="98282"/>
                  <a:pt x="0" y="101229"/>
                  <a:pt x="0" y="104477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lnTo>
                  <a:pt x="56257" y="160734"/>
                </a:lnTo>
                <a:cubicBezTo>
                  <a:pt x="59505" y="160734"/>
                  <a:pt x="62452" y="158792"/>
                  <a:pt x="63691" y="155778"/>
                </a:cubicBezTo>
                <a:cubicBezTo>
                  <a:pt x="64930" y="152765"/>
                  <a:pt x="64260" y="149316"/>
                  <a:pt x="61950" y="147005"/>
                </a:cubicBezTo>
                <a:lnTo>
                  <a:pt x="48555" y="133610"/>
                </a:lnTo>
                <a:lnTo>
                  <a:pt x="75009" y="107156"/>
                </a:lnTo>
                <a:lnTo>
                  <a:pt x="101464" y="133610"/>
                </a:lnTo>
                <a:lnTo>
                  <a:pt x="88069" y="147005"/>
                </a:lnTo>
                <a:cubicBezTo>
                  <a:pt x="85758" y="149316"/>
                  <a:pt x="85089" y="152765"/>
                  <a:pt x="86328" y="155778"/>
                </a:cubicBezTo>
                <a:cubicBezTo>
                  <a:pt x="87567" y="158792"/>
                  <a:pt x="90514" y="160734"/>
                  <a:pt x="93762" y="160734"/>
                </a:cubicBezTo>
                <a:lnTo>
                  <a:pt x="141982" y="160734"/>
                </a:lnTo>
                <a:cubicBezTo>
                  <a:pt x="146436" y="160734"/>
                  <a:pt x="150019" y="157151"/>
                  <a:pt x="150019" y="152698"/>
                </a:cubicBezTo>
                <a:lnTo>
                  <a:pt x="150019" y="104477"/>
                </a:lnTo>
                <a:cubicBezTo>
                  <a:pt x="150019" y="101229"/>
                  <a:pt x="148077" y="98282"/>
                  <a:pt x="145063" y="97043"/>
                </a:cubicBezTo>
                <a:cubicBezTo>
                  <a:pt x="142049" y="95804"/>
                  <a:pt x="138600" y="96474"/>
                  <a:pt x="136289" y="98785"/>
                </a:cubicBezTo>
                <a:lnTo>
                  <a:pt x="122895" y="112179"/>
                </a:lnTo>
                <a:lnTo>
                  <a:pt x="96441" y="85725"/>
                </a:lnTo>
                <a:lnTo>
                  <a:pt x="122895" y="59271"/>
                </a:lnTo>
                <a:lnTo>
                  <a:pt x="136289" y="72665"/>
                </a:lnTo>
                <a:cubicBezTo>
                  <a:pt x="138600" y="74976"/>
                  <a:pt x="142049" y="75646"/>
                  <a:pt x="145063" y="74407"/>
                </a:cubicBezTo>
                <a:cubicBezTo>
                  <a:pt x="148077" y="73168"/>
                  <a:pt x="150019" y="70221"/>
                  <a:pt x="150019" y="66973"/>
                </a:cubicBezTo>
                <a:lnTo>
                  <a:pt x="150019" y="18752"/>
                </a:lnTo>
                <a:cubicBezTo>
                  <a:pt x="150019" y="14299"/>
                  <a:pt x="146436" y="10716"/>
                  <a:pt x="141982" y="10716"/>
                </a:cubicBezTo>
                <a:lnTo>
                  <a:pt x="93762" y="10716"/>
                </a:lnTo>
                <a:cubicBezTo>
                  <a:pt x="90514" y="10716"/>
                  <a:pt x="87567" y="12658"/>
                  <a:pt x="86328" y="15672"/>
                </a:cubicBezTo>
                <a:cubicBezTo>
                  <a:pt x="85089" y="18685"/>
                  <a:pt x="85792" y="22134"/>
                  <a:pt x="88069" y="24445"/>
                </a:cubicBezTo>
                <a:lnTo>
                  <a:pt x="101464" y="37840"/>
                </a:lnTo>
                <a:lnTo>
                  <a:pt x="75009" y="64294"/>
                </a:lnTo>
                <a:lnTo>
                  <a:pt x="48555" y="37840"/>
                </a:lnTo>
                <a:lnTo>
                  <a:pt x="61950" y="24445"/>
                </a:lnTo>
                <a:cubicBezTo>
                  <a:pt x="64260" y="22134"/>
                  <a:pt x="64930" y="18685"/>
                  <a:pt x="63691" y="15672"/>
                </a:cubicBezTo>
                <a:cubicBezTo>
                  <a:pt x="62452" y="12658"/>
                  <a:pt x="59505" y="10716"/>
                  <a:pt x="56257" y="10716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900113" y="5695950"/>
            <a:ext cx="3781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Easy Deployment</a:t>
            </a:r>
            <a:endParaRPr b="0" i="0" sz="1600" u="none" cap="none" strike="noStrike"/>
          </a:p>
        </p:txBody>
      </p:sp>
      <p:sp>
        <p:nvSpPr>
          <p:cNvPr id="374" name="Google Shape;374;p10"/>
          <p:cNvSpPr/>
          <p:nvPr/>
        </p:nvSpPr>
        <p:spPr>
          <a:xfrm>
            <a:off x="900113" y="5943600"/>
            <a:ext cx="3781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Minimal adaptation needed for new markets and regions</a:t>
            </a:r>
            <a:endParaRPr b="0" i="0" sz="1600" u="none" cap="none" strike="noStrike"/>
          </a:p>
        </p:txBody>
      </p:sp>
      <p:sp>
        <p:nvSpPr>
          <p:cNvPr id="375" name="Google Shape;375;p10"/>
          <p:cNvSpPr/>
          <p:nvPr/>
        </p:nvSpPr>
        <p:spPr>
          <a:xfrm>
            <a:off x="6153150" y="1390650"/>
            <a:ext cx="5657850" cy="2667000"/>
          </a:xfrm>
          <a:custGeom>
            <a:rect b="b" l="l" r="r" t="t"/>
            <a:pathLst>
              <a:path extrusionOk="0" h="2667000" w="5657850">
                <a:moveTo>
                  <a:pt x="76196" y="0"/>
                </a:moveTo>
                <a:lnTo>
                  <a:pt x="5581654" y="0"/>
                </a:lnTo>
                <a:cubicBezTo>
                  <a:pt x="5623736" y="0"/>
                  <a:pt x="5657850" y="34114"/>
                  <a:pt x="5657850" y="76196"/>
                </a:cubicBezTo>
                <a:lnTo>
                  <a:pt x="5657850" y="2590804"/>
                </a:lnTo>
                <a:cubicBezTo>
                  <a:pt x="5657850" y="2632886"/>
                  <a:pt x="5623736" y="2667000"/>
                  <a:pt x="5581654" y="2667000"/>
                </a:cubicBezTo>
                <a:lnTo>
                  <a:pt x="76196" y="2667000"/>
                </a:lnTo>
                <a:cubicBezTo>
                  <a:pt x="34114" y="2667000"/>
                  <a:pt x="0" y="2632886"/>
                  <a:pt x="0" y="25908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6291263" y="1543050"/>
            <a:ext cx="190500" cy="190500"/>
          </a:xfrm>
          <a:custGeom>
            <a:rect b="b" l="l" r="r" t="t"/>
            <a:pathLst>
              <a:path extrusionOk="0" h="190500" w="190500">
                <a:moveTo>
                  <a:pt x="83307" y="11906"/>
                </a:moveTo>
                <a:lnTo>
                  <a:pt x="54955" y="11906"/>
                </a:lnTo>
                <a:cubicBezTo>
                  <a:pt x="44016" y="11906"/>
                  <a:pt x="34454" y="19385"/>
                  <a:pt x="31849" y="29989"/>
                </a:cubicBezTo>
                <a:lnTo>
                  <a:pt x="521" y="156456"/>
                </a:lnTo>
                <a:cubicBezTo>
                  <a:pt x="-2270" y="167692"/>
                  <a:pt x="6251" y="178594"/>
                  <a:pt x="17859" y="178594"/>
                </a:cubicBezTo>
                <a:lnTo>
                  <a:pt x="83307" y="178594"/>
                </a:lnTo>
                <a:lnTo>
                  <a:pt x="83307" y="154781"/>
                </a:lnTo>
                <a:cubicBezTo>
                  <a:pt x="83307" y="148196"/>
                  <a:pt x="88627" y="142875"/>
                  <a:pt x="95213" y="142875"/>
                </a:cubicBezTo>
                <a:cubicBezTo>
                  <a:pt x="101798" y="142875"/>
                  <a:pt x="107119" y="148196"/>
                  <a:pt x="107119" y="154781"/>
                </a:cubicBezTo>
                <a:lnTo>
                  <a:pt x="107119" y="178594"/>
                </a:lnTo>
                <a:lnTo>
                  <a:pt x="172641" y="178594"/>
                </a:lnTo>
                <a:cubicBezTo>
                  <a:pt x="184249" y="178594"/>
                  <a:pt x="192770" y="167692"/>
                  <a:pt x="189979" y="156456"/>
                </a:cubicBezTo>
                <a:lnTo>
                  <a:pt x="158688" y="29989"/>
                </a:lnTo>
                <a:cubicBezTo>
                  <a:pt x="156046" y="19385"/>
                  <a:pt x="146521" y="11906"/>
                  <a:pt x="135545" y="11906"/>
                </a:cubicBezTo>
                <a:lnTo>
                  <a:pt x="107119" y="11906"/>
                </a:lnTo>
                <a:lnTo>
                  <a:pt x="107119" y="35719"/>
                </a:lnTo>
                <a:cubicBezTo>
                  <a:pt x="107119" y="42304"/>
                  <a:pt x="101798" y="47625"/>
                  <a:pt x="95213" y="47625"/>
                </a:cubicBezTo>
                <a:cubicBezTo>
                  <a:pt x="88627" y="47625"/>
                  <a:pt x="83307" y="42304"/>
                  <a:pt x="83307" y="35719"/>
                </a:cubicBezTo>
                <a:lnTo>
                  <a:pt x="83307" y="11906"/>
                </a:lnTo>
                <a:close/>
                <a:moveTo>
                  <a:pt x="107119" y="83344"/>
                </a:moveTo>
                <a:lnTo>
                  <a:pt x="107119" y="107156"/>
                </a:lnTo>
                <a:cubicBezTo>
                  <a:pt x="107119" y="113742"/>
                  <a:pt x="101798" y="119063"/>
                  <a:pt x="95213" y="119063"/>
                </a:cubicBezTo>
                <a:cubicBezTo>
                  <a:pt x="88627" y="119063"/>
                  <a:pt x="83307" y="113742"/>
                  <a:pt x="83307" y="107156"/>
                </a:cubicBezTo>
                <a:lnTo>
                  <a:pt x="83307" y="83344"/>
                </a:lnTo>
                <a:cubicBezTo>
                  <a:pt x="83307" y="76758"/>
                  <a:pt x="88627" y="71438"/>
                  <a:pt x="95213" y="71438"/>
                </a:cubicBezTo>
                <a:cubicBezTo>
                  <a:pt x="101798" y="71438"/>
                  <a:pt x="107119" y="76758"/>
                  <a:pt x="107119" y="83344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6505575" y="1504950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Future Features &amp; Roadmap</a:t>
            </a:r>
            <a:endParaRPr b="0" i="0" sz="1600" u="none" cap="none" strike="noStrike"/>
          </a:p>
        </p:txBody>
      </p:sp>
      <p:sp>
        <p:nvSpPr>
          <p:cNvPr id="378" name="Google Shape;378;p10"/>
          <p:cNvSpPr/>
          <p:nvPr/>
        </p:nvSpPr>
        <p:spPr>
          <a:xfrm>
            <a:off x="6286500" y="1847850"/>
            <a:ext cx="5410200" cy="647700"/>
          </a:xfrm>
          <a:custGeom>
            <a:rect b="b" l="l" r="r" t="t"/>
            <a:pathLst>
              <a:path extrusionOk="0" h="647700" w="5410200">
                <a:moveTo>
                  <a:pt x="38100" y="0"/>
                </a:moveTo>
                <a:lnTo>
                  <a:pt x="5333998" y="0"/>
                </a:lnTo>
                <a:cubicBezTo>
                  <a:pt x="5376083" y="0"/>
                  <a:pt x="5410200" y="34117"/>
                  <a:pt x="5410200" y="76202"/>
                </a:cubicBezTo>
                <a:lnTo>
                  <a:pt x="5410200" y="571498"/>
                </a:lnTo>
                <a:cubicBezTo>
                  <a:pt x="5410200" y="613583"/>
                  <a:pt x="5376083" y="647700"/>
                  <a:pt x="53339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6286500" y="1847850"/>
            <a:ext cx="38100" cy="647700"/>
          </a:xfrm>
          <a:custGeom>
            <a:rect b="b" l="l" r="r" t="t"/>
            <a:pathLst>
              <a:path extrusionOk="0" h="647700" w="381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6381750" y="1924050"/>
            <a:ext cx="304800" cy="228600"/>
          </a:xfrm>
          <a:custGeom>
            <a:rect b="b" l="l" r="r" t="t"/>
            <a:pathLst>
              <a:path extrusionOk="0" h="228600" w="304800">
                <a:moveTo>
                  <a:pt x="38101" y="0"/>
                </a:moveTo>
                <a:lnTo>
                  <a:pt x="266699" y="0"/>
                </a:lnTo>
                <a:cubicBezTo>
                  <a:pt x="287742" y="0"/>
                  <a:pt x="304800" y="17058"/>
                  <a:pt x="304800" y="38101"/>
                </a:cubicBezTo>
                <a:lnTo>
                  <a:pt x="304800" y="190499"/>
                </a:lnTo>
                <a:cubicBezTo>
                  <a:pt x="304800" y="211542"/>
                  <a:pt x="287742" y="228600"/>
                  <a:pt x="2666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6381750" y="1924050"/>
            <a:ext cx="371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76200" spcFirstLastPara="1" rIns="76200" wrap="square" tIns="19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V2</a:t>
            </a:r>
            <a:endParaRPr b="0" i="0" sz="1600" u="none" cap="none" strike="noStrike"/>
          </a:p>
        </p:txBody>
      </p:sp>
      <p:sp>
        <p:nvSpPr>
          <p:cNvPr id="382" name="Google Shape;382;p10"/>
          <p:cNvSpPr/>
          <p:nvPr/>
        </p:nvSpPr>
        <p:spPr>
          <a:xfrm>
            <a:off x="6764167" y="1924050"/>
            <a:ext cx="458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Confidence Scores (</a:t>
            </a:r>
            <a:r>
              <a:rPr b="1" lang="en-US" sz="120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 to Foursquare’s premium dataset)</a:t>
            </a:r>
            <a:endParaRPr b="0" i="0" sz="1600" u="none" cap="none" strike="noStrike"/>
          </a:p>
        </p:txBody>
      </p:sp>
      <p:sp>
        <p:nvSpPr>
          <p:cNvPr id="383" name="Google Shape;383;p10"/>
          <p:cNvSpPr/>
          <p:nvPr/>
        </p:nvSpPr>
        <p:spPr>
          <a:xfrm>
            <a:off x="6381750" y="2190750"/>
            <a:ext cx="5314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Integrate dataset's confidence scores to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weight recommendation accuracy</a:t>
            </a:r>
            <a:endParaRPr b="0" i="0" sz="1600" u="none" cap="none" strike="noStrike"/>
          </a:p>
        </p:txBody>
      </p:sp>
      <p:sp>
        <p:nvSpPr>
          <p:cNvPr id="384" name="Google Shape;384;p10"/>
          <p:cNvSpPr/>
          <p:nvPr/>
        </p:nvSpPr>
        <p:spPr>
          <a:xfrm>
            <a:off x="6286500" y="2571750"/>
            <a:ext cx="5410200" cy="647700"/>
          </a:xfrm>
          <a:custGeom>
            <a:rect b="b" l="l" r="r" t="t"/>
            <a:pathLst>
              <a:path extrusionOk="0" h="647700" w="5410200">
                <a:moveTo>
                  <a:pt x="38100" y="0"/>
                </a:moveTo>
                <a:lnTo>
                  <a:pt x="5333998" y="0"/>
                </a:lnTo>
                <a:cubicBezTo>
                  <a:pt x="5376083" y="0"/>
                  <a:pt x="5410200" y="34117"/>
                  <a:pt x="5410200" y="76202"/>
                </a:cubicBezTo>
                <a:lnTo>
                  <a:pt x="5410200" y="571498"/>
                </a:lnTo>
                <a:cubicBezTo>
                  <a:pt x="5410200" y="613583"/>
                  <a:pt x="5376083" y="647700"/>
                  <a:pt x="53339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51A2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6286500" y="2571750"/>
            <a:ext cx="38100" cy="647700"/>
          </a:xfrm>
          <a:custGeom>
            <a:rect b="b" l="l" r="r" t="t"/>
            <a:pathLst>
              <a:path extrusionOk="0" h="647700" w="381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6381750" y="2647950"/>
            <a:ext cx="314325" cy="228600"/>
          </a:xfrm>
          <a:custGeom>
            <a:rect b="b" l="l" r="r" t="t"/>
            <a:pathLst>
              <a:path extrusionOk="0" h="228600" w="314325">
                <a:moveTo>
                  <a:pt x="38101" y="0"/>
                </a:moveTo>
                <a:lnTo>
                  <a:pt x="276224" y="0"/>
                </a:lnTo>
                <a:cubicBezTo>
                  <a:pt x="297267" y="0"/>
                  <a:pt x="314325" y="17058"/>
                  <a:pt x="314325" y="38101"/>
                </a:cubicBezTo>
                <a:lnTo>
                  <a:pt x="314325" y="190499"/>
                </a:lnTo>
                <a:cubicBezTo>
                  <a:pt x="314325" y="211542"/>
                  <a:pt x="297267" y="228600"/>
                  <a:pt x="2762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6381750" y="264795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76200" spcFirstLastPara="1" rIns="76200" wrap="square" tIns="19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V3</a:t>
            </a:r>
            <a:endParaRPr b="0" i="0" sz="1600" u="none" cap="none" strike="noStrike"/>
          </a:p>
        </p:txBody>
      </p:sp>
      <p:sp>
        <p:nvSpPr>
          <p:cNvPr id="388" name="Google Shape;388;p10"/>
          <p:cNvSpPr/>
          <p:nvPr/>
        </p:nvSpPr>
        <p:spPr>
          <a:xfrm>
            <a:off x="6767587" y="26479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Demographic Integration</a:t>
            </a:r>
            <a:endParaRPr b="0" i="0" sz="1600" u="none" cap="none" strike="noStrike"/>
          </a:p>
        </p:txBody>
      </p:sp>
      <p:sp>
        <p:nvSpPr>
          <p:cNvPr id="389" name="Google Shape;389;p10"/>
          <p:cNvSpPr/>
          <p:nvPr/>
        </p:nvSpPr>
        <p:spPr>
          <a:xfrm>
            <a:off x="6381750" y="2914650"/>
            <a:ext cx="5314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population density, income levels, and foot traffic patterns</a:t>
            </a:r>
            <a:endParaRPr b="0" i="0" sz="1600" u="none" cap="none" strike="noStrike"/>
          </a:p>
        </p:txBody>
      </p:sp>
      <p:sp>
        <p:nvSpPr>
          <p:cNvPr id="390" name="Google Shape;390;p10"/>
          <p:cNvSpPr/>
          <p:nvPr/>
        </p:nvSpPr>
        <p:spPr>
          <a:xfrm>
            <a:off x="6286500" y="3295650"/>
            <a:ext cx="5410200" cy="647700"/>
          </a:xfrm>
          <a:custGeom>
            <a:rect b="b" l="l" r="r" t="t"/>
            <a:pathLst>
              <a:path extrusionOk="0" h="647700" w="5410200">
                <a:moveTo>
                  <a:pt x="38100" y="0"/>
                </a:moveTo>
                <a:lnTo>
                  <a:pt x="5333998" y="0"/>
                </a:lnTo>
                <a:cubicBezTo>
                  <a:pt x="5376083" y="0"/>
                  <a:pt x="5410200" y="34117"/>
                  <a:pt x="5410200" y="76202"/>
                </a:cubicBezTo>
                <a:lnTo>
                  <a:pt x="5410200" y="571498"/>
                </a:lnTo>
                <a:cubicBezTo>
                  <a:pt x="5410200" y="613583"/>
                  <a:pt x="5376083" y="647700"/>
                  <a:pt x="53339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C27A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6286500" y="3295650"/>
            <a:ext cx="38100" cy="647700"/>
          </a:xfrm>
          <a:custGeom>
            <a:rect b="b" l="l" r="r" t="t"/>
            <a:pathLst>
              <a:path extrusionOk="0" h="647700" w="381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2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6381750" y="3371850"/>
            <a:ext cx="304800" cy="228600"/>
          </a:xfrm>
          <a:custGeom>
            <a:rect b="b" l="l" r="r" t="t"/>
            <a:pathLst>
              <a:path extrusionOk="0" h="228600" w="304800">
                <a:moveTo>
                  <a:pt x="38101" y="0"/>
                </a:moveTo>
                <a:lnTo>
                  <a:pt x="266699" y="0"/>
                </a:lnTo>
                <a:cubicBezTo>
                  <a:pt x="287742" y="0"/>
                  <a:pt x="304800" y="17058"/>
                  <a:pt x="304800" y="38101"/>
                </a:cubicBezTo>
                <a:lnTo>
                  <a:pt x="304800" y="190499"/>
                </a:lnTo>
                <a:cubicBezTo>
                  <a:pt x="304800" y="211542"/>
                  <a:pt x="287742" y="228600"/>
                  <a:pt x="2666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2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6381750" y="3371850"/>
            <a:ext cx="371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76200" spcFirstLastPara="1" rIns="76200" wrap="square" tIns="19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V4</a:t>
            </a:r>
            <a:endParaRPr b="0" i="0" sz="1600" u="none" cap="none" strike="noStrike"/>
          </a:p>
        </p:txBody>
      </p:sp>
      <p:sp>
        <p:nvSpPr>
          <p:cNvPr id="394" name="Google Shape;394;p10"/>
          <p:cNvSpPr/>
          <p:nvPr/>
        </p:nvSpPr>
        <p:spPr>
          <a:xfrm>
            <a:off x="6764015" y="3371850"/>
            <a:ext cx="1362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 Analytics</a:t>
            </a:r>
            <a:endParaRPr b="0" i="0" sz="1600" u="none" cap="none" strike="noStrike"/>
          </a:p>
        </p:txBody>
      </p:sp>
      <p:sp>
        <p:nvSpPr>
          <p:cNvPr id="395" name="Google Shape;395;p10"/>
          <p:cNvSpPr/>
          <p:nvPr/>
        </p:nvSpPr>
        <p:spPr>
          <a:xfrm>
            <a:off x="6381750" y="3638550"/>
            <a:ext cx="5314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Machine learning models to predict future business trends</a:t>
            </a:r>
            <a:endParaRPr b="0" i="0" sz="1600" u="none" cap="none" strike="noStrike"/>
          </a:p>
        </p:txBody>
      </p:sp>
      <p:sp>
        <p:nvSpPr>
          <p:cNvPr id="396" name="Google Shape;396;p10"/>
          <p:cNvSpPr/>
          <p:nvPr/>
        </p:nvSpPr>
        <p:spPr>
          <a:xfrm>
            <a:off x="6157913" y="4176712"/>
            <a:ext cx="5648325" cy="2295525"/>
          </a:xfrm>
          <a:custGeom>
            <a:rect b="b" l="l" r="r" t="t"/>
            <a:pathLst>
              <a:path extrusionOk="0" h="2295525" w="5648325">
                <a:moveTo>
                  <a:pt x="76211" y="0"/>
                </a:moveTo>
                <a:lnTo>
                  <a:pt x="5572114" y="0"/>
                </a:lnTo>
                <a:cubicBezTo>
                  <a:pt x="5614204" y="0"/>
                  <a:pt x="5648325" y="34121"/>
                  <a:pt x="5648325" y="76211"/>
                </a:cubicBezTo>
                <a:lnTo>
                  <a:pt x="5648325" y="2219314"/>
                </a:lnTo>
                <a:cubicBezTo>
                  <a:pt x="5648325" y="2261404"/>
                  <a:pt x="5614204" y="2295525"/>
                  <a:pt x="5572114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30196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3DCC9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6288881" y="4333875"/>
            <a:ext cx="214313" cy="190500"/>
          </a:xfrm>
          <a:custGeom>
            <a:rect b="b" l="l" r="r" t="t"/>
            <a:pathLst>
              <a:path extrusionOk="0" h="190500" w="214313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6515100" y="4295775"/>
            <a:ext cx="5267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Market Opportunity</a:t>
            </a:r>
            <a:endParaRPr b="0" i="0" sz="1600" u="none" cap="none" strike="noStrike"/>
          </a:p>
        </p:txBody>
      </p:sp>
      <p:sp>
        <p:nvSpPr>
          <p:cNvPr id="399" name="Google Shape;399;p10"/>
          <p:cNvSpPr/>
          <p:nvPr/>
        </p:nvSpPr>
        <p:spPr>
          <a:xfrm>
            <a:off x="6276975" y="4638675"/>
            <a:ext cx="5410200" cy="419100"/>
          </a:xfrm>
          <a:custGeom>
            <a:rect b="b" l="l" r="r" t="t"/>
            <a:pathLst>
              <a:path extrusionOk="0" h="419100" w="5410200">
                <a:moveTo>
                  <a:pt x="76201" y="0"/>
                </a:moveTo>
                <a:lnTo>
                  <a:pt x="5333999" y="0"/>
                </a:lnTo>
                <a:cubicBezTo>
                  <a:pt x="5376084" y="0"/>
                  <a:pt x="5410200" y="34116"/>
                  <a:pt x="5410200" y="76201"/>
                </a:cubicBezTo>
                <a:lnTo>
                  <a:pt x="5410200" y="342899"/>
                </a:lnTo>
                <a:cubicBezTo>
                  <a:pt x="5410200" y="384984"/>
                  <a:pt x="5376084" y="419100"/>
                  <a:pt x="53339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6353175" y="4733925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SMB Market</a:t>
            </a:r>
            <a:endParaRPr b="0" i="0" sz="1600" u="none" cap="none" strike="noStrike"/>
          </a:p>
        </p:txBody>
      </p:sp>
      <p:sp>
        <p:nvSpPr>
          <p:cNvPr id="401" name="Google Shape;401;p10"/>
          <p:cNvSpPr/>
          <p:nvPr/>
        </p:nvSpPr>
        <p:spPr>
          <a:xfrm>
            <a:off x="11174313" y="4714875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$5.7T</a:t>
            </a:r>
            <a:endParaRPr b="0" i="0" sz="1600" u="none" cap="none" strike="noStrike"/>
          </a:p>
        </p:txBody>
      </p:sp>
      <p:sp>
        <p:nvSpPr>
          <p:cNvPr id="402" name="Google Shape;402;p10"/>
          <p:cNvSpPr/>
          <p:nvPr/>
        </p:nvSpPr>
        <p:spPr>
          <a:xfrm>
            <a:off x="6276975" y="5133975"/>
            <a:ext cx="5410200" cy="419100"/>
          </a:xfrm>
          <a:custGeom>
            <a:rect b="b" l="l" r="r" t="t"/>
            <a:pathLst>
              <a:path extrusionOk="0" h="419100" w="5410200">
                <a:moveTo>
                  <a:pt x="76201" y="0"/>
                </a:moveTo>
                <a:lnTo>
                  <a:pt x="5333999" y="0"/>
                </a:lnTo>
                <a:cubicBezTo>
                  <a:pt x="5376084" y="0"/>
                  <a:pt x="5410200" y="34116"/>
                  <a:pt x="5410200" y="76201"/>
                </a:cubicBezTo>
                <a:lnTo>
                  <a:pt x="5410200" y="342899"/>
                </a:lnTo>
                <a:cubicBezTo>
                  <a:pt x="5410200" y="384984"/>
                  <a:pt x="5376084" y="419100"/>
                  <a:pt x="53339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6353175" y="5229225"/>
            <a:ext cx="1924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Location Intelligence Market</a:t>
            </a:r>
            <a:endParaRPr b="0" i="0" sz="1600" u="none" cap="none" strike="noStrike"/>
          </a:p>
        </p:txBody>
      </p:sp>
      <p:sp>
        <p:nvSpPr>
          <p:cNvPr id="404" name="Google Shape;404;p10"/>
          <p:cNvSpPr/>
          <p:nvPr/>
        </p:nvSpPr>
        <p:spPr>
          <a:xfrm>
            <a:off x="11196786" y="5210175"/>
            <a:ext cx="504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$36B</a:t>
            </a:r>
            <a:endParaRPr b="0" i="0" sz="1600" u="none" cap="none" strike="noStrike"/>
          </a:p>
        </p:txBody>
      </p:sp>
      <p:sp>
        <p:nvSpPr>
          <p:cNvPr id="405" name="Google Shape;405;p10"/>
          <p:cNvSpPr/>
          <p:nvPr/>
        </p:nvSpPr>
        <p:spPr>
          <a:xfrm>
            <a:off x="6276975" y="5629275"/>
            <a:ext cx="5410200" cy="419100"/>
          </a:xfrm>
          <a:custGeom>
            <a:rect b="b" l="l" r="r" t="t"/>
            <a:pathLst>
              <a:path extrusionOk="0" h="419100" w="5410200">
                <a:moveTo>
                  <a:pt x="76201" y="0"/>
                </a:moveTo>
                <a:lnTo>
                  <a:pt x="5333999" y="0"/>
                </a:lnTo>
                <a:cubicBezTo>
                  <a:pt x="5376084" y="0"/>
                  <a:pt x="5410200" y="34116"/>
                  <a:pt x="5410200" y="76201"/>
                </a:cubicBezTo>
                <a:lnTo>
                  <a:pt x="5410200" y="342899"/>
                </a:lnTo>
                <a:cubicBezTo>
                  <a:pt x="5410200" y="384984"/>
                  <a:pt x="5376084" y="419100"/>
                  <a:pt x="53339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6353175" y="5724525"/>
            <a:ext cx="1400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Annual Growth Rate</a:t>
            </a:r>
            <a:endParaRPr b="0" i="0" sz="1600" u="none" cap="none" strike="noStrike"/>
          </a:p>
        </p:txBody>
      </p:sp>
      <p:sp>
        <p:nvSpPr>
          <p:cNvPr id="407" name="Google Shape;407;p10"/>
          <p:cNvSpPr/>
          <p:nvPr/>
        </p:nvSpPr>
        <p:spPr>
          <a:xfrm>
            <a:off x="11150501" y="5705475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15.2%</a:t>
            </a:r>
            <a:endParaRPr b="0" i="0" sz="1600" u="none" cap="none" strike="noStrike"/>
          </a:p>
        </p:txBody>
      </p:sp>
      <p:sp>
        <p:nvSpPr>
          <p:cNvPr id="408" name="Google Shape;408;p10"/>
          <p:cNvSpPr/>
          <p:nvPr/>
        </p:nvSpPr>
        <p:spPr>
          <a:xfrm>
            <a:off x="6296025" y="6157913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6524625" y="6124575"/>
            <a:ext cx="523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MarketsandMarkets Research 2025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slidemodel.com/d5d1a859c3cf8ceb8b4d8fd3d8e2daed05149739.jpg" id="415" name="Google Shape;415;p11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416" name="Google Shape;416;p11"/>
          <p:cNvSpPr/>
          <p:nvPr/>
        </p:nvSpPr>
        <p:spPr>
          <a:xfrm>
            <a:off x="-21897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90196"/>
                </a:srgbClr>
              </a:gs>
              <a:gs pos="100000">
                <a:srgbClr val="3DCC91">
                  <a:alpha val="30196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417" name="Google Shape;417;p11"/>
          <p:cNvSpPr/>
          <p:nvPr/>
        </p:nvSpPr>
        <p:spPr>
          <a:xfrm>
            <a:off x="5314652" y="19050"/>
            <a:ext cx="1562100" cy="514350"/>
          </a:xfrm>
          <a:custGeom>
            <a:rect b="b" l="l" r="r" t="t"/>
            <a:pathLst>
              <a:path extrusionOk="0" h="514350" w="1562100">
                <a:moveTo>
                  <a:pt x="76201" y="0"/>
                </a:moveTo>
                <a:lnTo>
                  <a:pt x="1485899" y="0"/>
                </a:lnTo>
                <a:cubicBezTo>
                  <a:pt x="1527984" y="0"/>
                  <a:pt x="1562100" y="34116"/>
                  <a:pt x="1562100" y="76201"/>
                </a:cubicBezTo>
                <a:lnTo>
                  <a:pt x="1562100" y="438149"/>
                </a:lnTo>
                <a:cubicBezTo>
                  <a:pt x="1562100" y="480234"/>
                  <a:pt x="1527984" y="514350"/>
                  <a:pt x="1485899" y="514350"/>
                </a:cubicBezTo>
                <a:lnTo>
                  <a:pt x="76201" y="514350"/>
                </a:lnTo>
                <a:cubicBezTo>
                  <a:pt x="34116" y="514350"/>
                  <a:pt x="0" y="480234"/>
                  <a:pt x="0" y="4381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 cap="flat" cmpd="sng" w="25400">
            <a:solidFill>
              <a:srgbClr val="3DCC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5509915" y="142875"/>
            <a:ext cx="1171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0" i="0" sz="1600" u="none" cap="none" strike="noStrike"/>
          </a:p>
        </p:txBody>
      </p:sp>
      <p:sp>
        <p:nvSpPr>
          <p:cNvPr id="419" name="Google Shape;419;p11"/>
          <p:cNvSpPr/>
          <p:nvPr/>
        </p:nvSpPr>
        <p:spPr>
          <a:xfrm>
            <a:off x="3080486" y="804863"/>
            <a:ext cx="631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9FAFB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Startup Spot </a:t>
            </a:r>
            <a:r>
              <a:rPr b="1" lang="en-US" sz="5400">
                <a:solidFill>
                  <a:srgbClr val="F9FAFB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Global</a:t>
            </a:r>
            <a:endParaRPr b="0" i="0" sz="1600" u="none" cap="none" strike="noStrike"/>
          </a:p>
        </p:txBody>
      </p:sp>
      <p:sp>
        <p:nvSpPr>
          <p:cNvPr id="420" name="Google Shape;420;p11"/>
          <p:cNvSpPr/>
          <p:nvPr/>
        </p:nvSpPr>
        <p:spPr>
          <a:xfrm>
            <a:off x="3699942" y="1762125"/>
            <a:ext cx="914400" cy="38100"/>
          </a:xfrm>
          <a:custGeom>
            <a:rect b="b" l="l" r="r" t="t"/>
            <a:pathLst>
              <a:path extrusionOk="0" h="38100" w="9144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421" name="Google Shape;421;p11"/>
          <p:cNvSpPr/>
          <p:nvPr/>
        </p:nvSpPr>
        <p:spPr>
          <a:xfrm>
            <a:off x="4695304" y="1609725"/>
            <a:ext cx="2800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Questions &amp; Answers</a:t>
            </a:r>
            <a:endParaRPr b="0" i="0" sz="1600" u="none" cap="none" strike="noStrike"/>
          </a:p>
        </p:txBody>
      </p:sp>
      <p:sp>
        <p:nvSpPr>
          <p:cNvPr id="422" name="Google Shape;422;p11"/>
          <p:cNvSpPr/>
          <p:nvPr/>
        </p:nvSpPr>
        <p:spPr>
          <a:xfrm>
            <a:off x="7577510" y="1762125"/>
            <a:ext cx="914400" cy="38100"/>
          </a:xfrm>
          <a:custGeom>
            <a:rect b="b" l="l" r="r" t="t"/>
            <a:pathLst>
              <a:path extrusionOk="0" h="38100" w="9144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423" name="Google Shape;423;p11"/>
          <p:cNvSpPr/>
          <p:nvPr/>
        </p:nvSpPr>
        <p:spPr>
          <a:xfrm>
            <a:off x="1771650" y="2409825"/>
            <a:ext cx="8648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We're proud to have built a tool that turns </a:t>
            </a:r>
            <a:r>
              <a:rPr b="1" i="0" lang="en-US" sz="18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data into real-world business success</a:t>
            </a:r>
            <a:r>
              <a:rPr b="0" i="0" lang="en-US" sz="18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600" u="none" cap="none" strike="noStrike"/>
          </a:p>
        </p:txBody>
      </p:sp>
      <p:sp>
        <p:nvSpPr>
          <p:cNvPr id="424" name="Google Shape;424;p11"/>
          <p:cNvSpPr/>
          <p:nvPr/>
        </p:nvSpPr>
        <p:spPr>
          <a:xfrm>
            <a:off x="1781175" y="3009900"/>
            <a:ext cx="86296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mission is to democratize location intelligence and empower the next generation of entrepreneurs with data-driven decisions.</a:t>
            </a:r>
            <a:endParaRPr b="0" i="0" sz="1600" u="none" cap="none" strike="noStrike"/>
          </a:p>
        </p:txBody>
      </p:sp>
      <p:sp>
        <p:nvSpPr>
          <p:cNvPr id="425" name="Google Shape;425;p11"/>
          <p:cNvSpPr/>
          <p:nvPr/>
        </p:nvSpPr>
        <p:spPr>
          <a:xfrm>
            <a:off x="1833563" y="3862387"/>
            <a:ext cx="2686050" cy="1514475"/>
          </a:xfrm>
          <a:custGeom>
            <a:rect b="b" l="l" r="r" t="t"/>
            <a:pathLst>
              <a:path extrusionOk="0" h="1514475" w="2686050">
                <a:moveTo>
                  <a:pt x="76193" y="0"/>
                </a:moveTo>
                <a:lnTo>
                  <a:pt x="2609857" y="0"/>
                </a:lnTo>
                <a:cubicBezTo>
                  <a:pt x="2651937" y="0"/>
                  <a:pt x="2686050" y="34113"/>
                  <a:pt x="2686050" y="76193"/>
                </a:cubicBezTo>
                <a:lnTo>
                  <a:pt x="2686050" y="1438282"/>
                </a:lnTo>
                <a:cubicBezTo>
                  <a:pt x="2686050" y="1480362"/>
                  <a:pt x="2651937" y="1514475"/>
                  <a:pt x="2609857" y="1514475"/>
                </a:cubicBezTo>
                <a:lnTo>
                  <a:pt x="76193" y="1514475"/>
                </a:lnTo>
                <a:cubicBezTo>
                  <a:pt x="34113" y="1514475"/>
                  <a:pt x="0" y="1480362"/>
                  <a:pt x="0" y="1438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cap="flat" cmpd="sng" w="12700">
            <a:solidFill>
              <a:srgbClr val="3DCC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2998738" y="4019550"/>
            <a:ext cx="357188" cy="285750"/>
          </a:xfrm>
          <a:custGeom>
            <a:rect b="b" l="l" r="r" t="t"/>
            <a:pathLst>
              <a:path extrusionOk="0" h="285750" w="357188">
                <a:moveTo>
                  <a:pt x="321469" y="26789"/>
                </a:moveTo>
                <a:cubicBezTo>
                  <a:pt x="321469" y="20594"/>
                  <a:pt x="318288" y="14846"/>
                  <a:pt x="312986" y="11609"/>
                </a:cubicBezTo>
                <a:cubicBezTo>
                  <a:pt x="307684" y="8372"/>
                  <a:pt x="301154" y="8037"/>
                  <a:pt x="295628" y="10827"/>
                </a:cubicBezTo>
                <a:lnTo>
                  <a:pt x="230777" y="43253"/>
                </a:lnTo>
                <a:lnTo>
                  <a:pt x="130652" y="9823"/>
                </a:lnTo>
                <a:cubicBezTo>
                  <a:pt x="126132" y="8316"/>
                  <a:pt x="121276" y="8651"/>
                  <a:pt x="117035" y="10771"/>
                </a:cubicBezTo>
                <a:lnTo>
                  <a:pt x="45597" y="46490"/>
                </a:lnTo>
                <a:cubicBezTo>
                  <a:pt x="39514" y="49560"/>
                  <a:pt x="35719" y="55755"/>
                  <a:pt x="35719" y="62508"/>
                </a:cubicBezTo>
                <a:lnTo>
                  <a:pt x="35719" y="258961"/>
                </a:lnTo>
                <a:cubicBezTo>
                  <a:pt x="35719" y="265156"/>
                  <a:pt x="38900" y="270904"/>
                  <a:pt x="44202" y="274141"/>
                </a:cubicBezTo>
                <a:cubicBezTo>
                  <a:pt x="49504" y="277378"/>
                  <a:pt x="56034" y="277713"/>
                  <a:pt x="61559" y="274923"/>
                </a:cubicBezTo>
                <a:lnTo>
                  <a:pt x="126355" y="242497"/>
                </a:lnTo>
                <a:lnTo>
                  <a:pt x="223075" y="274755"/>
                </a:lnTo>
                <a:cubicBezTo>
                  <a:pt x="220675" y="271183"/>
                  <a:pt x="218331" y="267444"/>
                  <a:pt x="216043" y="263649"/>
                </a:cubicBezTo>
                <a:cubicBezTo>
                  <a:pt x="209903" y="253436"/>
                  <a:pt x="203820" y="241715"/>
                  <a:pt x="199299" y="229158"/>
                </a:cubicBezTo>
                <a:lnTo>
                  <a:pt x="142819" y="210350"/>
                </a:lnTo>
                <a:lnTo>
                  <a:pt x="142819" y="51569"/>
                </a:lnTo>
                <a:lnTo>
                  <a:pt x="214257" y="75400"/>
                </a:lnTo>
                <a:lnTo>
                  <a:pt x="214257" y="130820"/>
                </a:lnTo>
                <a:cubicBezTo>
                  <a:pt x="231558" y="110840"/>
                  <a:pt x="257231" y="98227"/>
                  <a:pt x="285694" y="98227"/>
                </a:cubicBezTo>
                <a:cubicBezTo>
                  <a:pt x="298307" y="98227"/>
                  <a:pt x="310362" y="100682"/>
                  <a:pt x="321413" y="105203"/>
                </a:cubicBezTo>
                <a:lnTo>
                  <a:pt x="321469" y="26789"/>
                </a:lnTo>
                <a:close/>
                <a:moveTo>
                  <a:pt x="285750" y="125016"/>
                </a:moveTo>
                <a:cubicBezTo>
                  <a:pt x="248748" y="125016"/>
                  <a:pt x="218777" y="154484"/>
                  <a:pt x="218777" y="190816"/>
                </a:cubicBezTo>
                <a:cubicBezTo>
                  <a:pt x="218777" y="229270"/>
                  <a:pt x="254552" y="274755"/>
                  <a:pt x="273807" y="296466"/>
                </a:cubicBezTo>
                <a:cubicBezTo>
                  <a:pt x="280281" y="303721"/>
                  <a:pt x="291275" y="303721"/>
                  <a:pt x="297749" y="296466"/>
                </a:cubicBezTo>
                <a:cubicBezTo>
                  <a:pt x="317004" y="274755"/>
                  <a:pt x="352778" y="229270"/>
                  <a:pt x="352778" y="190816"/>
                </a:cubicBezTo>
                <a:cubicBezTo>
                  <a:pt x="352778" y="154484"/>
                  <a:pt x="322808" y="125016"/>
                  <a:pt x="285806" y="125016"/>
                </a:cubicBezTo>
                <a:close/>
                <a:moveTo>
                  <a:pt x="263426" y="191988"/>
                </a:moveTo>
                <a:cubicBezTo>
                  <a:pt x="263426" y="179667"/>
                  <a:pt x="273429" y="169664"/>
                  <a:pt x="285750" y="169664"/>
                </a:cubicBezTo>
                <a:cubicBezTo>
                  <a:pt x="298071" y="169664"/>
                  <a:pt x="308074" y="179667"/>
                  <a:pt x="308074" y="191988"/>
                </a:cubicBezTo>
                <a:cubicBezTo>
                  <a:pt x="308074" y="204309"/>
                  <a:pt x="298071" y="214313"/>
                  <a:pt x="285750" y="214313"/>
                </a:cubicBezTo>
                <a:cubicBezTo>
                  <a:pt x="273429" y="214313"/>
                  <a:pt x="263426" y="204309"/>
                  <a:pt x="263426" y="191988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1947863" y="4419600"/>
            <a:ext cx="245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Location Intelligence</a:t>
            </a:r>
            <a:endParaRPr b="0" i="0" sz="1600" u="none" cap="none" strike="noStrike"/>
          </a:p>
        </p:txBody>
      </p:sp>
      <p:sp>
        <p:nvSpPr>
          <p:cNvPr id="428" name="Google Shape;428;p11"/>
          <p:cNvSpPr/>
          <p:nvPr/>
        </p:nvSpPr>
        <p:spPr>
          <a:xfrm>
            <a:off x="1952625" y="4762500"/>
            <a:ext cx="2447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Data-driven decisions for entrepreneurs</a:t>
            </a:r>
            <a:endParaRPr b="0" i="0" sz="1600" u="none" cap="none" strike="noStrike"/>
          </a:p>
        </p:txBody>
      </p:sp>
      <p:sp>
        <p:nvSpPr>
          <p:cNvPr id="429" name="Google Shape;429;p11"/>
          <p:cNvSpPr/>
          <p:nvPr/>
        </p:nvSpPr>
        <p:spPr>
          <a:xfrm>
            <a:off x="4754538" y="3862387"/>
            <a:ext cx="2686050" cy="1514475"/>
          </a:xfrm>
          <a:custGeom>
            <a:rect b="b" l="l" r="r" t="t"/>
            <a:pathLst>
              <a:path extrusionOk="0" h="1514475" w="2686050">
                <a:moveTo>
                  <a:pt x="76193" y="0"/>
                </a:moveTo>
                <a:lnTo>
                  <a:pt x="2609857" y="0"/>
                </a:lnTo>
                <a:cubicBezTo>
                  <a:pt x="2651937" y="0"/>
                  <a:pt x="2686050" y="34113"/>
                  <a:pt x="2686050" y="76193"/>
                </a:cubicBezTo>
                <a:lnTo>
                  <a:pt x="2686050" y="1438282"/>
                </a:lnTo>
                <a:cubicBezTo>
                  <a:pt x="2686050" y="1480362"/>
                  <a:pt x="2651937" y="1514475"/>
                  <a:pt x="2609857" y="1514475"/>
                </a:cubicBezTo>
                <a:lnTo>
                  <a:pt x="76193" y="1514475"/>
                </a:lnTo>
                <a:cubicBezTo>
                  <a:pt x="34113" y="1514475"/>
                  <a:pt x="0" y="1480362"/>
                  <a:pt x="0" y="1438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cap="flat" cmpd="sng" w="12700">
            <a:solidFill>
              <a:srgbClr val="3DCC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5955432" y="4019550"/>
            <a:ext cx="285750" cy="285750"/>
          </a:xfrm>
          <a:custGeom>
            <a:rect b="b" l="l" r="r" t="t"/>
            <a:pathLst>
              <a:path extrusionOk="0" h="285750" w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4868838" y="4419600"/>
            <a:ext cx="245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 Analytics</a:t>
            </a:r>
            <a:endParaRPr b="0" i="0" sz="1600" u="none" cap="none" strike="noStrike"/>
          </a:p>
        </p:txBody>
      </p:sp>
      <p:sp>
        <p:nvSpPr>
          <p:cNvPr id="432" name="Google Shape;432;p11"/>
          <p:cNvSpPr/>
          <p:nvPr/>
        </p:nvSpPr>
        <p:spPr>
          <a:xfrm>
            <a:off x="4873600" y="4762500"/>
            <a:ext cx="2447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Where you should be, not just where things are</a:t>
            </a:r>
            <a:endParaRPr b="0" i="0" sz="1600" u="none" cap="none" strike="noStrike"/>
          </a:p>
        </p:txBody>
      </p:sp>
      <p:sp>
        <p:nvSpPr>
          <p:cNvPr id="433" name="Google Shape;433;p11"/>
          <p:cNvSpPr/>
          <p:nvPr/>
        </p:nvSpPr>
        <p:spPr>
          <a:xfrm>
            <a:off x="7675513" y="3862387"/>
            <a:ext cx="2686050" cy="1514475"/>
          </a:xfrm>
          <a:custGeom>
            <a:rect b="b" l="l" r="r" t="t"/>
            <a:pathLst>
              <a:path extrusionOk="0" h="1514475" w="2686050">
                <a:moveTo>
                  <a:pt x="76193" y="0"/>
                </a:moveTo>
                <a:lnTo>
                  <a:pt x="2609857" y="0"/>
                </a:lnTo>
                <a:cubicBezTo>
                  <a:pt x="2651937" y="0"/>
                  <a:pt x="2686050" y="34113"/>
                  <a:pt x="2686050" y="76193"/>
                </a:cubicBezTo>
                <a:lnTo>
                  <a:pt x="2686050" y="1438282"/>
                </a:lnTo>
                <a:cubicBezTo>
                  <a:pt x="2686050" y="1480362"/>
                  <a:pt x="2651937" y="1514475"/>
                  <a:pt x="2609857" y="1514475"/>
                </a:cubicBezTo>
                <a:lnTo>
                  <a:pt x="76193" y="1514475"/>
                </a:lnTo>
                <a:cubicBezTo>
                  <a:pt x="34113" y="1514475"/>
                  <a:pt x="0" y="1480362"/>
                  <a:pt x="0" y="1438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cap="flat" cmpd="sng" w="12700">
            <a:solidFill>
              <a:srgbClr val="3DCC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8876407" y="4019550"/>
            <a:ext cx="285750" cy="285750"/>
          </a:xfrm>
          <a:custGeom>
            <a:rect b="b" l="l" r="r" t="t"/>
            <a:pathLst>
              <a:path extrusionOk="0" h="285750" w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7789813" y="4419600"/>
            <a:ext cx="245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Scalability</a:t>
            </a:r>
            <a:endParaRPr b="0" i="0" sz="1600" u="none" cap="none" strike="noStrike"/>
          </a:p>
        </p:txBody>
      </p:sp>
      <p:sp>
        <p:nvSpPr>
          <p:cNvPr id="436" name="Google Shape;436;p11"/>
          <p:cNvSpPr/>
          <p:nvPr/>
        </p:nvSpPr>
        <p:spPr>
          <a:xfrm>
            <a:off x="7794575" y="4762500"/>
            <a:ext cx="2447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for any city, any country</a:t>
            </a:r>
            <a:endParaRPr b="0" i="0" sz="1600" u="none" cap="none" strike="noStrike"/>
          </a:p>
        </p:txBody>
      </p:sp>
      <p:sp>
        <p:nvSpPr>
          <p:cNvPr id="437" name="Google Shape;437;p11"/>
          <p:cNvSpPr/>
          <p:nvPr/>
        </p:nvSpPr>
        <p:spPr>
          <a:xfrm>
            <a:off x="3324895" y="5614988"/>
            <a:ext cx="2800350" cy="733425"/>
          </a:xfrm>
          <a:custGeom>
            <a:rect b="b" l="l" r="r" t="t"/>
            <a:pathLst>
              <a:path extrusionOk="0" h="733425" w="2800350">
                <a:moveTo>
                  <a:pt x="76203" y="0"/>
                </a:moveTo>
                <a:lnTo>
                  <a:pt x="2724147" y="0"/>
                </a:lnTo>
                <a:cubicBezTo>
                  <a:pt x="2766205" y="0"/>
                  <a:pt x="2800350" y="34145"/>
                  <a:pt x="2800350" y="76203"/>
                </a:cubicBezTo>
                <a:lnTo>
                  <a:pt x="2800350" y="657222"/>
                </a:lnTo>
                <a:cubicBezTo>
                  <a:pt x="2800350" y="699280"/>
                  <a:pt x="2766205" y="733425"/>
                  <a:pt x="272414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cap="flat" cmpd="sng" w="12700">
            <a:solidFill>
              <a:srgbClr val="3DCC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3586832" y="5867400"/>
            <a:ext cx="228600" cy="228600"/>
          </a:xfrm>
          <a:custGeom>
            <a:rect b="b" l="l" r="r" t="t"/>
            <a:pathLst>
              <a:path extrusionOk="0" h="228600" w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3958307" y="5734050"/>
            <a:ext cx="2009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 Repository</a:t>
            </a:r>
            <a:endParaRPr b="0" i="0" sz="1600" u="none" cap="none" strike="noStrike"/>
          </a:p>
        </p:txBody>
      </p:sp>
      <p:sp>
        <p:nvSpPr>
          <p:cNvPr id="440" name="Google Shape;440;p11"/>
          <p:cNvSpPr/>
          <p:nvPr/>
        </p:nvSpPr>
        <p:spPr>
          <a:xfrm>
            <a:off x="3958307" y="5962650"/>
            <a:ext cx="201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github.com/startupspotau</a:t>
            </a:r>
            <a:endParaRPr b="0" i="0" sz="1600" u="none" cap="none" strike="noStrike"/>
          </a:p>
        </p:txBody>
      </p:sp>
      <p:sp>
        <p:nvSpPr>
          <p:cNvPr id="441" name="Google Shape;441;p11"/>
          <p:cNvSpPr/>
          <p:nvPr/>
        </p:nvSpPr>
        <p:spPr>
          <a:xfrm>
            <a:off x="6437040" y="5614988"/>
            <a:ext cx="2428875" cy="733425"/>
          </a:xfrm>
          <a:custGeom>
            <a:rect b="b" l="l" r="r" t="t"/>
            <a:pathLst>
              <a:path extrusionOk="0" h="733425" w="2428875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657222"/>
                </a:lnTo>
                <a:cubicBezTo>
                  <a:pt x="2428875" y="699280"/>
                  <a:pt x="2394730" y="733425"/>
                  <a:pt x="235267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cap="flat" cmpd="sng" w="12700">
            <a:solidFill>
              <a:srgbClr val="3DCC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6698977" y="5867400"/>
            <a:ext cx="228600" cy="228600"/>
          </a:xfrm>
          <a:custGeom>
            <a:rect b="b" l="l" r="r" t="t"/>
            <a:pathLst>
              <a:path extrusionOk="0" h="228600" w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7070452" y="5734050"/>
            <a:ext cx="163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Contact Us</a:t>
            </a:r>
            <a:endParaRPr b="0" i="0" sz="1600" u="none" cap="none" strike="noStrike"/>
          </a:p>
        </p:txBody>
      </p:sp>
      <p:sp>
        <p:nvSpPr>
          <p:cNvPr id="444" name="Google Shape;444;p11"/>
          <p:cNvSpPr/>
          <p:nvPr/>
        </p:nvSpPr>
        <p:spPr>
          <a:xfrm>
            <a:off x="7070452" y="5962650"/>
            <a:ext cx="1647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team@startupspot.au</a:t>
            </a:r>
            <a:endParaRPr b="0" i="0" sz="1600" u="none" cap="none" strike="noStrike"/>
          </a:p>
        </p:txBody>
      </p:sp>
      <p:sp>
        <p:nvSpPr>
          <p:cNvPr id="445" name="Google Shape;445;p11"/>
          <p:cNvSpPr/>
          <p:nvPr/>
        </p:nvSpPr>
        <p:spPr>
          <a:xfrm>
            <a:off x="4192786" y="6629400"/>
            <a:ext cx="171450" cy="171450"/>
          </a:xfrm>
          <a:custGeom>
            <a:rect b="b" l="l" r="r" t="t"/>
            <a:pathLst>
              <a:path extrusionOk="0" h="171450" w="171450">
                <a:moveTo>
                  <a:pt x="80702" y="29167"/>
                </a:moveTo>
                <a:lnTo>
                  <a:pt x="85725" y="36098"/>
                </a:lnTo>
                <a:lnTo>
                  <a:pt x="90748" y="29167"/>
                </a:lnTo>
                <a:cubicBezTo>
                  <a:pt x="99120" y="17580"/>
                  <a:pt x="112581" y="10716"/>
                  <a:pt x="126880" y="10716"/>
                </a:cubicBezTo>
                <a:cubicBezTo>
                  <a:pt x="151492" y="10716"/>
                  <a:pt x="171450" y="30673"/>
                  <a:pt x="171450" y="55286"/>
                </a:cubicBezTo>
                <a:lnTo>
                  <a:pt x="171450" y="56157"/>
                </a:lnTo>
                <a:cubicBezTo>
                  <a:pt x="171450" y="93728"/>
                  <a:pt x="124603" y="137361"/>
                  <a:pt x="100158" y="156013"/>
                </a:cubicBezTo>
                <a:cubicBezTo>
                  <a:pt x="96005" y="159161"/>
                  <a:pt x="90915" y="160734"/>
                  <a:pt x="85725" y="160734"/>
                </a:cubicBezTo>
                <a:cubicBezTo>
                  <a:pt x="80535" y="160734"/>
                  <a:pt x="75411" y="159194"/>
                  <a:pt x="71292" y="156013"/>
                </a:cubicBezTo>
                <a:cubicBezTo>
                  <a:pt x="46847" y="137361"/>
                  <a:pt x="0" y="93728"/>
                  <a:pt x="0" y="56157"/>
                </a:cubicBezTo>
                <a:lnTo>
                  <a:pt x="0" y="55286"/>
                </a:lnTo>
                <a:cubicBezTo>
                  <a:pt x="0" y="30673"/>
                  <a:pt x="19958" y="10716"/>
                  <a:pt x="44570" y="10716"/>
                </a:cubicBezTo>
                <a:cubicBezTo>
                  <a:pt x="58869" y="10716"/>
                  <a:pt x="72330" y="17580"/>
                  <a:pt x="80702" y="29167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4402336" y="6581775"/>
            <a:ext cx="3667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with passion for the hackathon community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